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78" r:id="rId7"/>
    <p:sldId id="286" r:id="rId8"/>
    <p:sldId id="279" r:id="rId9"/>
    <p:sldId id="258" r:id="rId10"/>
    <p:sldId id="280" r:id="rId11"/>
    <p:sldId id="281" r:id="rId12"/>
    <p:sldId id="282" r:id="rId13"/>
    <p:sldId id="266" r:id="rId14"/>
    <p:sldId id="287" r:id="rId15"/>
    <p:sldId id="288" r:id="rId16"/>
    <p:sldId id="289" r:id="rId17"/>
    <p:sldId id="290" r:id="rId18"/>
    <p:sldId id="283" r:id="rId19"/>
    <p:sldId id="292" r:id="rId20"/>
    <p:sldId id="293" r:id="rId21"/>
    <p:sldId id="294" r:id="rId22"/>
    <p:sldId id="291" r:id="rId23"/>
    <p:sldId id="295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655" autoAdjust="0"/>
  </p:normalViewPr>
  <p:slideViewPr>
    <p:cSldViewPr snapToGrid="0">
      <p:cViewPr varScale="1">
        <p:scale>
          <a:sx n="103" d="100"/>
          <a:sy n="103" d="100"/>
        </p:scale>
        <p:origin x="138" y="16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4D63-8477-3AFD-58D6-56EA85CF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6ABF4-6F40-708D-98EE-981DA530A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5041A-7D7C-CF8E-E463-C41768E3D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9951-353F-2DD4-6BED-4A6B3754C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703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70C3-9E56-2E3D-A6FD-CF43EFCB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EBDD3-8940-6B9A-5490-E0E3BC169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2B8A2-C752-A453-3898-E6B2540AC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BDD5D-9065-22E7-0E12-70FE9D0F3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981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D3E9-98A0-D887-77E3-4BE88A82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4FEF5-0946-3837-E4EF-DB5C4BD78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21943-7D92-EFD7-DE7E-0400593AF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157F6-0E05-936A-F0F4-50913684C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176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28516-3AA3-A6B9-5274-4E2199F4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6CD7C-3FB1-3E45-1D36-FCF34CFF9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F0288-9F05-C050-83AA-F99881E67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A3C4B-C563-7AB4-55F0-76966105E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403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17D1A-5690-A1CA-5237-D8995EEC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B8C03-31F4-031A-D5F9-1D2E2675D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72BF0-DA1C-A670-9157-58D97EB72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655C4-22B1-304F-5554-F7E1FE3B2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18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4E33-A681-D5B8-7D13-9A39CBFD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294FD-86AB-8D54-0081-E5CAAA11E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3B0AE-2E1F-DFA9-AF84-7A2F7C2C8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EDFA9-5EFF-BE49-05AE-B7C3B8255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50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8A18-C316-FB6F-87D2-E3F331F74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C3B68-4C4C-BAD1-6C95-90A4B2066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1FF0B-BD0C-B031-E297-7DD10552F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ADD8F-CA40-4D85-FA5B-6249C1912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802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FDA4-D8E2-D14F-EDB8-DE89F94E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FB004-83BD-9A21-EED6-EBAAC4A54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1E59C-AA31-B408-CFA1-884E5A7BA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EE574-70F8-7139-22D9-C727C16B5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20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2923-412E-17D3-F8C8-711A1115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4480F-0463-BCF1-0AC2-BD71FBFE0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67EFB-179F-97EF-C654-62AA040FD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4D9E-31AE-A0DB-2ADF-49DE47FBD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836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C879A-5BF7-4A95-4C0D-19875D3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895AA-E438-069A-4C3D-1C44B0EAA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00EC8-BB65-FA4E-180C-5D7199491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B4E33-AA6C-3D3D-3E8D-4A30919AE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796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vedetails.com/metasploit-modules/version-423919/Canonical-Ubuntu-Linux-8.04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2871" y="3429000"/>
            <a:ext cx="5981323" cy="3101190"/>
          </a:xfrm>
        </p:spPr>
        <p:txBody>
          <a:bodyPr anchor="ctr"/>
          <a:lstStyle/>
          <a:p>
            <a:r>
              <a:rPr lang="en-US" dirty="0"/>
              <a:t>practical training – NCSA 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Qatar university | CMPS399</a:t>
            </a:r>
            <a:br>
              <a:rPr lang="en-US" sz="2000" dirty="0"/>
            </a:br>
            <a:br>
              <a:rPr lang="en-US" sz="1400" dirty="0"/>
            </a:br>
            <a:r>
              <a:rPr lang="en-US" sz="1400" dirty="0"/>
              <a:t>by: Mohammad Ahmad | 202002453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Training Overview</a:t>
            </a:r>
          </a:p>
          <a:p>
            <a:r>
              <a:rPr lang="en-US" dirty="0"/>
              <a:t>Learning Objectives</a:t>
            </a:r>
          </a:p>
          <a:p>
            <a:r>
              <a:rPr lang="en-US" dirty="0"/>
              <a:t>Main Project – Cyberthon</a:t>
            </a:r>
          </a:p>
          <a:p>
            <a:r>
              <a:rPr lang="en-US" dirty="0"/>
              <a:t>Q/A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1782" y="487018"/>
            <a:ext cx="3730028" cy="3377354"/>
          </a:xfrm>
        </p:spPr>
        <p:txBody>
          <a:bodyPr/>
          <a:lstStyle/>
          <a:p>
            <a:r>
              <a:rPr lang="en-US" dirty="0"/>
              <a:t>Training Overview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1756-01B6-6A55-8FF9-21738BF5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D47C-229E-73DA-584A-543D33243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Training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FE530-42DB-B993-6D16-A8CEEA946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Agenda for Training at NCSA (in collaboration with DCE)</a:t>
            </a:r>
          </a:p>
          <a:p>
            <a:pPr lvl="1"/>
            <a:r>
              <a:rPr lang="en-US" dirty="0"/>
              <a:t>Soft/Power skills </a:t>
            </a:r>
          </a:p>
          <a:p>
            <a:pPr lvl="1"/>
            <a:r>
              <a:rPr lang="en-US" dirty="0"/>
              <a:t>Technical concepts</a:t>
            </a:r>
          </a:p>
          <a:p>
            <a:pPr lvl="1"/>
            <a:r>
              <a:rPr lang="en-US" dirty="0"/>
              <a:t>Technical skills</a:t>
            </a:r>
          </a:p>
          <a:p>
            <a:pPr lvl="1"/>
            <a:r>
              <a:rPr lang="en-US" dirty="0"/>
              <a:t>Practical demonstration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A524972-257E-370A-EA47-0F811DD9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2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49" y="487680"/>
            <a:ext cx="5095027" cy="3376691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Placeholder 5" descr="A person holding a pencil and writing on a clipboard&#10;&#10;AI-generated content may be incorrect.">
            <a:extLst>
              <a:ext uri="{FF2B5EF4-FFF2-40B4-BE49-F238E27FC236}">
                <a16:creationId xmlns:a16="http://schemas.microsoft.com/office/drawing/2014/main" id="{8B60364C-3F97-6044-50B1-E0E05434E3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48" r="214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Can be summarized into   </a:t>
            </a:r>
          </a:p>
          <a:p>
            <a:pPr lvl="1"/>
            <a:r>
              <a:rPr lang="en-US" dirty="0"/>
              <a:t>Getting familiar with the Linux environment</a:t>
            </a:r>
          </a:p>
          <a:p>
            <a:pPr lvl="1"/>
            <a:r>
              <a:rPr lang="en-US" dirty="0"/>
              <a:t>Understanding the importance of key power/soft skills</a:t>
            </a:r>
          </a:p>
          <a:p>
            <a:pPr lvl="1"/>
            <a:r>
              <a:rPr lang="en-US" dirty="0"/>
              <a:t>Grasping various cybersecurity fundamentals</a:t>
            </a:r>
          </a:p>
          <a:p>
            <a:pPr lvl="1"/>
            <a:r>
              <a:rPr lang="en-US" dirty="0"/>
              <a:t>Practicing and demonstrating practical skills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Main Project – Cyberthon 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Cyberthon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What it is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/>
          </a:bodyPr>
          <a:lstStyle/>
          <a:p>
            <a:r>
              <a:rPr lang="en-US" dirty="0"/>
              <a:t>A project-based assessment where groups of trainees conduct vulnerability assessments:</a:t>
            </a:r>
          </a:p>
          <a:p>
            <a:pPr lvl="1"/>
            <a:r>
              <a:rPr lang="en-US" dirty="0"/>
              <a:t>Host and Target systems provided</a:t>
            </a:r>
          </a:p>
          <a:p>
            <a:pPr lvl="1"/>
            <a:r>
              <a:rPr lang="en-US" dirty="0"/>
              <a:t>Expectations outlined</a:t>
            </a:r>
          </a:p>
          <a:p>
            <a:pPr lvl="1"/>
            <a:r>
              <a:rPr lang="en-US" dirty="0"/>
              <a:t>Results demonstrated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US" dirty="0"/>
              <a:t>What was done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/>
          </a:bodyPr>
          <a:lstStyle/>
          <a:p>
            <a:r>
              <a:rPr lang="en-US" dirty="0"/>
              <a:t>Conducted the requested vulnerability assessment:</a:t>
            </a:r>
          </a:p>
          <a:p>
            <a:pPr lvl="1"/>
            <a:r>
              <a:rPr lang="en-US" dirty="0"/>
              <a:t>Reported findings according to standard</a:t>
            </a:r>
          </a:p>
          <a:p>
            <a:pPr lvl="1"/>
            <a:r>
              <a:rPr lang="en-US" dirty="0"/>
              <a:t>Relevant Common Vulnerabilities and Exposures (CVEs) listed</a:t>
            </a:r>
          </a:p>
          <a:p>
            <a:pPr lvl="1"/>
            <a:r>
              <a:rPr lang="en-US" dirty="0"/>
              <a:t>Mitigations suggested</a:t>
            </a:r>
          </a:p>
          <a:p>
            <a:pPr lvl="1"/>
            <a:r>
              <a:rPr lang="en-US" dirty="0"/>
              <a:t>Presented the above to examiners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Cyberthon (cont.)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/>
          <a:lstStyle/>
          <a:p>
            <a:r>
              <a:rPr lang="en-US" dirty="0"/>
              <a:t>Main Project Phases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>
            <a:normAutofit/>
          </a:bodyPr>
          <a:lstStyle/>
          <a:p>
            <a:r>
              <a:rPr lang="en-US" dirty="0"/>
              <a:t>Network Reconnaissance</a:t>
            </a:r>
          </a:p>
          <a:p>
            <a:r>
              <a:rPr lang="en-US" dirty="0"/>
              <a:t>Nessus Scanning</a:t>
            </a:r>
          </a:p>
          <a:p>
            <a:r>
              <a:rPr lang="en-US" dirty="0"/>
              <a:t>Testing Discovered Vulnerabilities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/>
          <a:lstStyle/>
          <a:p>
            <a:r>
              <a:rPr lang="en-US" dirty="0"/>
              <a:t>Technical Tools Used</a:t>
            </a:r>
          </a:p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5506720" cy="3031489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nmap – network mapping</a:t>
            </a:r>
          </a:p>
          <a:p>
            <a:pPr lvl="1"/>
            <a:r>
              <a:rPr lang="en-US" dirty="0"/>
              <a:t>Metasploit – vulnerability research framework</a:t>
            </a:r>
          </a:p>
          <a:p>
            <a:pPr lvl="1"/>
            <a:r>
              <a:rPr lang="en-US" dirty="0"/>
              <a:t>Nessus – vulnerability scanner</a:t>
            </a:r>
          </a:p>
          <a:p>
            <a:pPr lvl="1"/>
            <a:r>
              <a:rPr lang="en-US" dirty="0"/>
              <a:t>xtightvncviewer – remote desktop application</a:t>
            </a:r>
          </a:p>
          <a:p>
            <a:pPr lvl="1"/>
            <a:r>
              <a:rPr lang="en-US" dirty="0"/>
              <a:t>Netcat – reading/writing in a network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 dirty="0"/>
              <a:t>Cyberthon (cont.)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429000"/>
            <a:ext cx="5907176" cy="2768600"/>
          </a:xfrm>
        </p:spPr>
        <p:txBody>
          <a:bodyPr>
            <a:noAutofit/>
          </a:bodyPr>
          <a:lstStyle/>
          <a:p>
            <a:r>
              <a:rPr lang="en-US" b="1" dirty="0"/>
              <a:t>Network Reconnaissance -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Scan network to discover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Conduct a simple vulnerability scan on target</a:t>
            </a:r>
          </a:p>
          <a:p>
            <a:r>
              <a:rPr lang="en-US" b="1" dirty="0"/>
              <a:t>Tools Utilized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nmap</a:t>
            </a:r>
          </a:p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Placeholder 7" descr="A person wearing a mask and using a computer&#10;&#10;AI-generated content may be incorrect.">
            <a:extLst>
              <a:ext uri="{FF2B5EF4-FFF2-40B4-BE49-F238E27FC236}">
                <a16:creationId xmlns:a16="http://schemas.microsoft.com/office/drawing/2014/main" id="{27D04BCB-9E40-3E4C-0E50-9D7F90B8AB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3452" r="2345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11C4D-F748-76E2-080A-0D757C9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BBB255-88AD-391B-C3CA-5A187EF7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D0ADC2-56EB-7CA1-C97F-4B014B0A2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670411"/>
            <a:ext cx="5667375" cy="2466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1323DD-5BAC-E806-BED3-ECFF02693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822" y="1009332"/>
            <a:ext cx="4958080" cy="4839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0A54FD-B095-A1C5-ABF2-1E380D1EE114}"/>
              </a:ext>
            </a:extLst>
          </p:cNvPr>
          <p:cNvSpPr txBox="1"/>
          <p:nvPr/>
        </p:nvSpPr>
        <p:spPr>
          <a:xfrm>
            <a:off x="1197578" y="4227969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1 – nmap network scan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CF23A-EF0C-1712-6092-7BECCB4FF825}"/>
              </a:ext>
            </a:extLst>
          </p:cNvPr>
          <p:cNvSpPr txBox="1"/>
          <p:nvPr/>
        </p:nvSpPr>
        <p:spPr>
          <a:xfrm>
            <a:off x="6338437" y="5987017"/>
            <a:ext cx="33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2 – nmap target full port scan</a:t>
            </a:r>
          </a:p>
        </p:txBody>
      </p:sp>
    </p:spTree>
    <p:extLst>
      <p:ext uri="{BB962C8B-B14F-4D97-AF65-F5344CB8AC3E}">
        <p14:creationId xmlns:p14="http://schemas.microsoft.com/office/powerpoint/2010/main" val="2583958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233E-3D65-7A0A-02E8-50C0CCD6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6F1A41B-243E-14FA-6ECA-AABBF6F6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991C9-7E51-5324-6B3F-9037D57F4E7F}"/>
              </a:ext>
            </a:extLst>
          </p:cNvPr>
          <p:cNvSpPr txBox="1"/>
          <p:nvPr/>
        </p:nvSpPr>
        <p:spPr>
          <a:xfrm>
            <a:off x="643551" y="6228081"/>
            <a:ext cx="4840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3 – nmap target full service version scan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7FB3B-E3C4-F72D-99B0-E54D271925A8}"/>
              </a:ext>
            </a:extLst>
          </p:cNvPr>
          <p:cNvSpPr txBox="1"/>
          <p:nvPr/>
        </p:nvSpPr>
        <p:spPr>
          <a:xfrm>
            <a:off x="6338437" y="5710018"/>
            <a:ext cx="33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4 – nmap target vulnerability scan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F821C4-0E4D-505C-5BFD-3F22DBE12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71683"/>
            <a:ext cx="5519013" cy="565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F6B5C4-ED3D-B230-C66B-D312F041D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565" y="651849"/>
            <a:ext cx="6269035" cy="497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45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67266-DF23-ADAC-C125-4B5D99E2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E59C-5932-B382-6E25-DDA4F1B9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 dirty="0"/>
              <a:t>Cyberthon (cont.)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CB1B9-D581-C851-0C21-F80CA36C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C29FB-D43A-8B9B-0384-E87BF9C469F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429000"/>
            <a:ext cx="5907176" cy="2768600"/>
          </a:xfrm>
        </p:spPr>
        <p:txBody>
          <a:bodyPr>
            <a:noAutofit/>
          </a:bodyPr>
          <a:lstStyle/>
          <a:p>
            <a:r>
              <a:rPr lang="en-US" b="1" dirty="0"/>
              <a:t>Nessus Scan -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Conduct a thorough vulnerability scan on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Cross-check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 detailed vulnerability findings</a:t>
            </a:r>
          </a:p>
          <a:p>
            <a:r>
              <a:rPr lang="en-US" b="1" dirty="0"/>
              <a:t>Tools Utilized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Nessus</a:t>
            </a:r>
          </a:p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804BE9-5283-9CD7-814F-AC5443E71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Placeholder 7" descr="A person wearing a mask and using a computer&#10;&#10;AI-generated content may be incorrect.">
            <a:extLst>
              <a:ext uri="{FF2B5EF4-FFF2-40B4-BE49-F238E27FC236}">
                <a16:creationId xmlns:a16="http://schemas.microsoft.com/office/drawing/2014/main" id="{1A5102FE-A8EC-F0FD-67B2-2BBFE68331A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3452" r="2345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761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FD5F1-8AF9-A812-DEBB-989D7ADA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F5F53EF-97D5-0B6C-511A-D3EFBD41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E4C94-1C22-72FA-01D8-A7E29B5B65F8}"/>
              </a:ext>
            </a:extLst>
          </p:cNvPr>
          <p:cNvSpPr txBox="1"/>
          <p:nvPr/>
        </p:nvSpPr>
        <p:spPr>
          <a:xfrm>
            <a:off x="1840374" y="2743090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5 – Nessus scan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F70AD-13C1-2487-328A-C595F75CE494}"/>
              </a:ext>
            </a:extLst>
          </p:cNvPr>
          <p:cNvSpPr txBox="1"/>
          <p:nvPr/>
        </p:nvSpPr>
        <p:spPr>
          <a:xfrm>
            <a:off x="5659739" y="5987017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6 – Nessus scan details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A4BABD-CDCB-6682-8857-D2BDE4130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96" y="424667"/>
            <a:ext cx="5943600" cy="220599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76BEC6-59DE-BF3E-82FB-4F6F4F4C0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02" y="2904827"/>
            <a:ext cx="5943600" cy="301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63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Nessus Scan Findings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Findings can be summarized into the following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98ED67AF-B48B-F5F8-E2FD-1C98C42C4D5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433012233"/>
              </p:ext>
            </p:extLst>
          </p:nvPr>
        </p:nvGraphicFramePr>
        <p:xfrm>
          <a:off x="4542325" y="895350"/>
          <a:ext cx="6647758" cy="511588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15919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5900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17283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81028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RISK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# OF VULNERABILITIES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%AGE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7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19934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16F1B-17E9-8305-F995-31D7D558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8DEE-62E3-0F72-C717-0333FB9DE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 dirty="0"/>
              <a:t>Cyberthon (cont.)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019E3-FCF1-8176-47EF-7B620D78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A9402-B567-6234-3B35-070FC9FB225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429000"/>
            <a:ext cx="5907176" cy="2768600"/>
          </a:xfrm>
        </p:spPr>
        <p:txBody>
          <a:bodyPr>
            <a:noAutofit/>
          </a:bodyPr>
          <a:lstStyle/>
          <a:p>
            <a:r>
              <a:rPr lang="en-US" b="1" dirty="0"/>
              <a:t>Testing Discovered Vulnerability -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Conduct tests to verify vulnerability presence</a:t>
            </a:r>
          </a:p>
          <a:p>
            <a:r>
              <a:rPr lang="en-US" b="1" dirty="0"/>
              <a:t>Tools Utilized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Metasploit, xtightvncviewer, netcat</a:t>
            </a:r>
          </a:p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6E0D2A-E2D9-B915-39B5-D58F2C021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Placeholder 7" descr="A person wearing a mask and using a computer&#10;&#10;AI-generated content may be incorrect.">
            <a:extLst>
              <a:ext uri="{FF2B5EF4-FFF2-40B4-BE49-F238E27FC236}">
                <a16:creationId xmlns:a16="http://schemas.microsoft.com/office/drawing/2014/main" id="{E6E7A73E-B73D-28C7-E689-2AD1A6E185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3452" r="2345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9288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B2AF0-366C-58A6-0407-50CC2496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AE999A-C6E1-C95F-91AC-37DFAC26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A91D1-367C-C932-2F4A-766C4C5FD746}"/>
              </a:ext>
            </a:extLst>
          </p:cNvPr>
          <p:cNvSpPr txBox="1"/>
          <p:nvPr/>
        </p:nvSpPr>
        <p:spPr>
          <a:xfrm>
            <a:off x="1197578" y="4227969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7 – vsFTPd backdoor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04440-CB7F-5B4E-446E-C8A37291624E}"/>
              </a:ext>
            </a:extLst>
          </p:cNvPr>
          <p:cNvSpPr txBox="1"/>
          <p:nvPr/>
        </p:nvSpPr>
        <p:spPr>
          <a:xfrm>
            <a:off x="6338437" y="5987017"/>
            <a:ext cx="33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8 – Root compromised via VNC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CB53B-BD69-F560-4F64-71910E03C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47329"/>
            <a:ext cx="5943600" cy="2580640"/>
          </a:xfrm>
          <a:prstGeom prst="rect">
            <a:avLst/>
          </a:prstGeom>
        </p:spPr>
      </p:pic>
      <p:pic>
        <p:nvPicPr>
          <p:cNvPr id="3" name="Picture 2" descr="A screenshot of a desktop&#10;&#10;AI-generated content may be incorrect.">
            <a:extLst>
              <a:ext uri="{FF2B5EF4-FFF2-40B4-BE49-F238E27FC236}">
                <a16:creationId xmlns:a16="http://schemas.microsoft.com/office/drawing/2014/main" id="{460EFDF6-3026-3DC5-CC74-DC7BAECD4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865" y="1807746"/>
            <a:ext cx="5383379" cy="410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15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117D-4E52-C31C-2A33-59A6900E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42926E9-F5F4-151D-0F98-73FE6FFE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889C2F-6E67-79FB-D5F9-A65182BD0A99}"/>
              </a:ext>
            </a:extLst>
          </p:cNvPr>
          <p:cNvSpPr txBox="1"/>
          <p:nvPr/>
        </p:nvSpPr>
        <p:spPr>
          <a:xfrm>
            <a:off x="3850243" y="5314385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9 – Bind shell backdoor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C20F10-C9CE-FE0D-B104-24641450D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994" y="875212"/>
            <a:ext cx="8121118" cy="434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96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8EDB-DEF5-82EE-8BE9-DCC81529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F915DE-E6FE-CF19-A719-F0677EC0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Overall Scan Findings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4FB394-F12B-32AD-819E-48547CB896B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08702" y="2813050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Details of ‘high+’ risk vulnerability findings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1F283D14-8737-9625-5B02-ED5B49AFA6F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537101510"/>
              </p:ext>
            </p:extLst>
          </p:nvPr>
        </p:nvGraphicFramePr>
        <p:xfrm>
          <a:off x="3956364" y="190563"/>
          <a:ext cx="7713553" cy="644010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148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7242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30859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095470">
                  <a:extLst>
                    <a:ext uri="{9D8B030D-6E8A-4147-A177-3AD203B41FA5}">
                      <a16:colId xmlns:a16="http://schemas.microsoft.com/office/drawing/2014/main" val="1941020557"/>
                    </a:ext>
                  </a:extLst>
                </a:gridCol>
              </a:tblGrid>
              <a:tr h="81028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VULNERABILITY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PORT/SERVICE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RISK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671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vsFTPd Backdoor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21/ftp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CVE-2011-2523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Canonical Ubuntu Linux 8.04.x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80/tcp/www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 details </a:t>
                      </a:r>
                      <a:r>
                        <a:rPr lang="en-US" sz="180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here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069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VNC Server ‘password’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5900/tcp/vnc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4712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SSL Version 2 &amp;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25/tcp/smtp</a:t>
                      </a:r>
                      <a:br>
                        <a:rPr lang="en-US" dirty="0"/>
                      </a:br>
                      <a:r>
                        <a:rPr lang="en-US" dirty="0"/>
                        <a:t>5432/tcp/postgresql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CVE-2014-3566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Apache Tomcat AJP Connector Request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8009/tcp/ajp13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CVE-2020-1745, CVE-2020-1938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  <a:tr h="55263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Bind Shell Backdoor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1524/tcp/wild_shell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74299"/>
                  </a:ext>
                </a:extLst>
              </a:tr>
              <a:tr h="651849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Debian OpenSSH/OpenSSL RNG Weakness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5432/tcp/postgresql</a:t>
                      </a:r>
                    </a:p>
                    <a:p>
                      <a:pPr algn="ctr"/>
                      <a:r>
                        <a:rPr lang="en-US" dirty="0"/>
                        <a:t>25/tcp/smtp</a:t>
                      </a:r>
                    </a:p>
                    <a:p>
                      <a:pPr algn="ctr"/>
                      <a:r>
                        <a:rPr lang="en-US" dirty="0"/>
                        <a:t>22/tcp/ssh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CVE-2008-0166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053942"/>
                  </a:ext>
                </a:extLst>
              </a:tr>
              <a:tr h="68806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Samba Badlock Vulnerability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445/tcp/cifs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CVE-2016-2118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1848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49C9D-05FA-B5FF-06AE-74F71C96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958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5475-64E7-1E8F-0FDB-7D883C8E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7078B2-8910-F129-FEF6-F093A585B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MITIGATIONS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FDFC3C-6B96-5453-E08C-D17E2CDD64A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08702" y="2813050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Recommendations to harden system security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69B3AF17-3EB7-FE44-C3C3-92A65689EB57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185753718"/>
              </p:ext>
            </p:extLst>
          </p:nvPr>
        </p:nvGraphicFramePr>
        <p:xfrm>
          <a:off x="3956364" y="190563"/>
          <a:ext cx="7713553" cy="631418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148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4698749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81028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VULNERABILITY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671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vsFTPd Backdoor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Uninstall vsFTPd 2.3.4 and install secure version; add firewall rule to restrict port 21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Canonical Ubuntu Linux 8.04.x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Upgrade to a version of Canonical Ubuntu Linux that is currently supported with latest patches that offer greater security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069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VNC Server ‘password’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the VNC service with a strong password or disable the service if not needed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4712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SSL Version 2 &amp;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 application documentation to disable SSL 2.0 and 3.0, use TLS 1.2 or higher instead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Apache Tomcat AJP Connector Request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the AJP configuration to require authorization and/or upgrade the Tomcat server to 7.0.100, 8.5.51, 9.0.31 or later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  <a:tr h="55263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Bind Shell Backdoor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Verify if host has been compromised and reinstall system if necessary; disable service if not in use, otherwise secure with strong password. Add firewall rule to restrict port 1524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74299"/>
                  </a:ext>
                </a:extLst>
              </a:tr>
              <a:tr h="651849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Debian OpenSSH/OpenSSL RNG Weakness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previously generated cryptographic material on remote host is guessable; all SSH, SSL and OpenVPN key material must be regenerated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053942"/>
                  </a:ext>
                </a:extLst>
              </a:tr>
              <a:tr h="68806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Samba Badlock Vulnerability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Upgrade to Samba version 4.2.11 / 4.3.8 / 4.4.2 or later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1848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B6EED-D6F7-67A7-0251-A8470C8B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617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2879" y="1651950"/>
            <a:ext cx="4179570" cy="308301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{117A0EDA-F727-48C5-9BD6-E3F084EF8F25}TF7521aafa-c748-4c40-a498-ba511be234dc5b1b6097_win32-5039330bb2f3</Template>
  <TotalTime>104</TotalTime>
  <Words>725</Words>
  <Application>Microsoft Office PowerPoint</Application>
  <PresentationFormat>Widescreen</PresentationFormat>
  <Paragraphs>189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Tenorite</vt:lpstr>
      <vt:lpstr>Custom</vt:lpstr>
      <vt:lpstr>practical training – NCSA   Qatar university | CMPS399  by: Mohammad Ahmad | 202002453</vt:lpstr>
      <vt:lpstr>AGENDA</vt:lpstr>
      <vt:lpstr>Training Overview</vt:lpstr>
      <vt:lpstr>Training overview</vt:lpstr>
      <vt:lpstr>Learning Objectives</vt:lpstr>
      <vt:lpstr>Learning Objectives</vt:lpstr>
      <vt:lpstr>Main Project – Cyberthon </vt:lpstr>
      <vt:lpstr>Cyberthon</vt:lpstr>
      <vt:lpstr>Cyberthon (cont.)</vt:lpstr>
      <vt:lpstr>Cyberthon (cont.)</vt:lpstr>
      <vt:lpstr>PowerPoint Presentation</vt:lpstr>
      <vt:lpstr>PowerPoint Presentation</vt:lpstr>
      <vt:lpstr>Cyberthon (cont.)</vt:lpstr>
      <vt:lpstr>PowerPoint Presentation</vt:lpstr>
      <vt:lpstr>Nessus Scan Findings</vt:lpstr>
      <vt:lpstr>Cyberthon (cont.)</vt:lpstr>
      <vt:lpstr>PowerPoint Presentation</vt:lpstr>
      <vt:lpstr>PowerPoint Presentation</vt:lpstr>
      <vt:lpstr>Overall Scan Findings</vt:lpstr>
      <vt:lpstr>MITIGATIONS</vt:lpstr>
      <vt:lpstr>THANK YOU 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Amer Ahmad</dc:creator>
  <cp:lastModifiedBy>Mohammad Amer Ahmad</cp:lastModifiedBy>
  <cp:revision>287</cp:revision>
  <dcterms:created xsi:type="dcterms:W3CDTF">2025-08-14T18:23:57Z</dcterms:created>
  <dcterms:modified xsi:type="dcterms:W3CDTF">2025-08-14T20:08:23Z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