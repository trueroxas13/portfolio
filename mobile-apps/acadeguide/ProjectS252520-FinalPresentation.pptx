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  <p:sldId id="273" r:id="rId14"/>
    <p:sldId id="269" r:id="rId15"/>
    <p:sldId id="275" r:id="rId16"/>
    <p:sldId id="265" r:id="rId17"/>
    <p:sldId id="276" r:id="rId18"/>
    <p:sldId id="277" r:id="rId19"/>
    <p:sldId id="266" r:id="rId20"/>
    <p:sldId id="267" r:id="rId21"/>
    <p:sldId id="268" r:id="rId22"/>
  </p:sldIdLst>
  <p:sldSz cx="18288000" cy="10287000"/>
  <p:notesSz cx="6858000" cy="9144000"/>
  <p:embeddedFontLst>
    <p:embeddedFont>
      <p:font typeface="Archivo Black" panose="020B0A03020202020B04" pitchFamily="34" charset="77"/>
      <p:regular r:id="rId24"/>
    </p:embeddedFont>
    <p:embeddedFont>
      <p:font typeface="Bauhaus 93" pitchFamily="82" charset="77"/>
      <p:regular r:id="rId25"/>
    </p:embeddedFont>
    <p:embeddedFont>
      <p:font typeface="Canva Sans" panose="020B0503030501040103" pitchFamily="34" charset="0"/>
      <p:regular r:id="rId26"/>
    </p:embeddedFont>
    <p:embeddedFont>
      <p:font typeface="Canva Sans Bold" panose="020B0803030501040103" pitchFamily="34" charset="0"/>
      <p:regular r:id="rId27"/>
      <p:bold r:id="rId28"/>
    </p:embeddedFont>
    <p:embeddedFont>
      <p:font typeface="Canva Sans Italics" panose="020B0503030501040103" pitchFamily="34" charset="0"/>
      <p:regular r:id="rId29"/>
      <p:italic r:id="rId30"/>
    </p:embeddedFont>
    <p:embeddedFont>
      <p:font typeface="Lato" panose="020F0502020204030203" pitchFamily="34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94635" autoAdjust="0"/>
  </p:normalViewPr>
  <p:slideViewPr>
    <p:cSldViewPr>
      <p:cViewPr varScale="1">
        <p:scale>
          <a:sx n="100" d="100"/>
          <a:sy n="100" d="100"/>
        </p:scale>
        <p:origin x="21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57D9A-C2C2-4113-A0C2-285E4A0EF82C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C7F-4F05-4C76-B2AD-B34B5F93B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16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DFC7F-4F05-4C76-B2AD-B34B5F93B9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15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DFC7F-4F05-4C76-B2AD-B34B5F93B9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10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DFC7F-4F05-4C76-B2AD-B34B5F93B9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05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DFC7F-4F05-4C76-B2AD-B34B5F93B9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69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DFC7F-4F05-4C76-B2AD-B34B5F93B9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59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DFC7F-4F05-4C76-B2AD-B34B5F93B9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97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DFC7F-4F05-4C76-B2AD-B34B5F93B9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13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EB76-7208-3A7E-CD05-626E87A17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0CC6A-9810-C96A-19DE-8AD310461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2E287-16CF-F452-032A-037067F27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6FBA8-3E1B-B49D-08EA-0007B932B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DFC7F-4F05-4C76-B2AD-B34B5F93B9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39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51E46-D142-1B62-CCD3-8EF468C6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33740-D6D5-1ECC-B667-C3924913D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D445D-0D0E-8B0E-6257-726BD12E4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AAB76-2E82-F6D3-3C32-58A726614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DFC7F-4F05-4C76-B2AD-B34B5F93B9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9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png"/><Relationship Id="rId7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10.svg"/><Relationship Id="rId5" Type="http://schemas.openxmlformats.org/officeDocument/2006/relationships/image" Target="../media/image17.png"/><Relationship Id="rId10" Type="http://schemas.openxmlformats.org/officeDocument/2006/relationships/image" Target="../media/image9.png"/><Relationship Id="rId4" Type="http://schemas.openxmlformats.org/officeDocument/2006/relationships/image" Target="../media/image16.svg"/><Relationship Id="rId9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0.png"/><Relationship Id="rId7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21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22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5.jpe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3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12" Type="http://schemas.openxmlformats.org/officeDocument/2006/relationships/image" Target="../media/image2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7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30.png"/><Relationship Id="rId5" Type="http://schemas.openxmlformats.org/officeDocument/2006/relationships/image" Target="../media/image7.png"/><Relationship Id="rId10" Type="http://schemas.openxmlformats.org/officeDocument/2006/relationships/image" Target="../media/image29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1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3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6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12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11" Type="http://schemas.openxmlformats.org/officeDocument/2006/relationships/image" Target="../media/image10.svg"/><Relationship Id="rId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6.svg"/><Relationship Id="rId9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9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0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1.png"/><Relationship Id="rId10" Type="http://schemas.openxmlformats.org/officeDocument/2006/relationships/image" Target="../media/image11.png"/><Relationship Id="rId4" Type="http://schemas.openxmlformats.org/officeDocument/2006/relationships/image" Target="../media/image6.svg"/><Relationship Id="rId9" Type="http://schemas.openxmlformats.org/officeDocument/2006/relationships/image" Target="../media/image10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2.png"/><Relationship Id="rId10" Type="http://schemas.openxmlformats.org/officeDocument/2006/relationships/image" Target="../media/image11.png"/><Relationship Id="rId4" Type="http://schemas.openxmlformats.org/officeDocument/2006/relationships/image" Target="../media/image6.svg"/><Relationship Id="rId9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58652" y="98057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076324" y="6070535"/>
            <a:ext cx="7762875" cy="2640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By :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Mohammad Ahmad (202002453) 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Omar Qutb (202106170)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Obada El-Refai (202110207)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223380" y="9258300"/>
            <a:ext cx="13343712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9753600" y="1638300"/>
            <a:ext cx="14264946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91249" y="4143658"/>
            <a:ext cx="11027298" cy="119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46"/>
              </a:lnSpc>
            </a:pPr>
            <a:r>
              <a:rPr lang="en-US" sz="1017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ACADEGUIDE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6325" y="2283585"/>
            <a:ext cx="6438685" cy="1057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Senior Design Project II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Group 20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17047EA-4CCA-ACBF-BA1B-7A2873C4A67C}"/>
              </a:ext>
            </a:extLst>
          </p:cNvPr>
          <p:cNvSpPr/>
          <p:nvPr/>
        </p:nvSpPr>
        <p:spPr>
          <a:xfrm>
            <a:off x="15087600" y="93405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5CFF9A-5C05-8177-4865-FF8F023740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4509" y="2185728"/>
            <a:ext cx="5395359" cy="5472372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984045"/>
            <a:ext cx="8408420" cy="116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32"/>
              </a:lnSpc>
            </a:pPr>
            <a:r>
              <a:rPr lang="en-US" sz="98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Overview</a:t>
            </a:r>
          </a:p>
        </p:txBody>
      </p:sp>
      <p:sp>
        <p:nvSpPr>
          <p:cNvPr id="4" name="Freeform 4"/>
          <p:cNvSpPr/>
          <p:nvPr/>
        </p:nvSpPr>
        <p:spPr>
          <a:xfrm>
            <a:off x="-116260" y="931659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4305625"/>
            <a:ext cx="6829972" cy="296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785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 Statement</a:t>
            </a:r>
          </a:p>
          <a:p>
            <a:pPr marL="906785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Proposed Solution</a:t>
            </a:r>
          </a:p>
          <a:p>
            <a:pPr marL="906785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Features</a:t>
            </a:r>
          </a:p>
          <a:p>
            <a:pPr marL="906785" lvl="1" indent="-453392" algn="l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Arch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63751" y="3498763"/>
            <a:ext cx="7611241" cy="2876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8"/>
              </a:lnSpc>
            </a:pPr>
            <a:endParaRPr/>
          </a:p>
          <a:p>
            <a:pPr marL="880264" lvl="1" indent="-440132" algn="l">
              <a:lnSpc>
                <a:spcPts val="5708"/>
              </a:lnSpc>
              <a:buFont typeface="Arial"/>
              <a:buChar char="•"/>
            </a:pPr>
            <a:r>
              <a:rPr lang="en-US" sz="4077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Detailed Design</a:t>
            </a:r>
          </a:p>
          <a:p>
            <a:pPr marL="880264" lvl="1" indent="-440132" algn="l">
              <a:lnSpc>
                <a:spcPts val="5708"/>
              </a:lnSpc>
              <a:buFont typeface="Arial"/>
              <a:buChar char="•"/>
            </a:pPr>
            <a:r>
              <a:rPr lang="en-US" sz="4077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</a:t>
            </a:r>
          </a:p>
          <a:p>
            <a:pPr marL="880264" lvl="1" indent="-440132" algn="l">
              <a:lnSpc>
                <a:spcPts val="5708"/>
              </a:lnSpc>
              <a:buFont typeface="Arial"/>
              <a:buChar char="•"/>
            </a:pPr>
            <a:r>
              <a:rPr lang="en-US" sz="4077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12269371" y="1641145"/>
            <a:ext cx="11759491" cy="0"/>
          </a:xfrm>
          <a:prstGeom prst="line">
            <a:avLst/>
          </a:prstGeom>
          <a:ln w="38100" cap="flat">
            <a:solidFill>
              <a:srgbClr val="252525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28700" y="1425277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10"/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800814" y="1028700"/>
            <a:ext cx="6621639" cy="6621639"/>
          </a:xfrm>
          <a:custGeom>
            <a:avLst/>
            <a:gdLst/>
            <a:ahLst/>
            <a:cxnLst/>
            <a:rect l="l" t="t" r="r" b="b"/>
            <a:pathLst>
              <a:path w="6621639" h="6621639">
                <a:moveTo>
                  <a:pt x="0" y="0"/>
                </a:moveTo>
                <a:lnTo>
                  <a:pt x="6621639" y="0"/>
                </a:lnTo>
                <a:lnTo>
                  <a:pt x="6621639" y="6621639"/>
                </a:lnTo>
                <a:lnTo>
                  <a:pt x="0" y="6621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1745514" y="1973400"/>
            <a:ext cx="4732239" cy="473223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0450723" y="4797055"/>
            <a:ext cx="4054455" cy="4054455"/>
          </a:xfrm>
          <a:custGeom>
            <a:avLst/>
            <a:gdLst/>
            <a:ahLst/>
            <a:cxnLst/>
            <a:rect l="l" t="t" r="r" b="b"/>
            <a:pathLst>
              <a:path w="4054455" h="4054455">
                <a:moveTo>
                  <a:pt x="0" y="0"/>
                </a:moveTo>
                <a:lnTo>
                  <a:pt x="4054455" y="0"/>
                </a:lnTo>
                <a:lnTo>
                  <a:pt x="4054455" y="4054455"/>
                </a:lnTo>
                <a:lnTo>
                  <a:pt x="0" y="4054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1029166" y="5375499"/>
            <a:ext cx="2897568" cy="289756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0000" r="-200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-58130" y="931659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2408254" y="1487625"/>
            <a:ext cx="11759491" cy="0"/>
          </a:xfrm>
          <a:prstGeom prst="line">
            <a:avLst/>
          </a:prstGeom>
          <a:ln w="38100" cap="flat">
            <a:solidFill>
              <a:srgbClr val="252525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28700" y="1028700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28103" y="2445858"/>
            <a:ext cx="9009614" cy="1176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6"/>
              </a:lnSpc>
            </a:pPr>
            <a:r>
              <a:rPr lang="en-US" sz="99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1025" y="3862510"/>
            <a:ext cx="10928677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High school graduates often don’t know which major to choose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Decisions are influenced by external pressure (like parents or peers)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Students feel overwhelmed with too many unclear options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252525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51025" y="8215917"/>
            <a:ext cx="10928677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i="1">
                <a:solidFill>
                  <a:srgbClr val="25252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 right decision today shapes a better tomorrow.</a:t>
            </a:r>
          </a:p>
        </p:txBody>
      </p:sp>
      <p:sp>
        <p:nvSpPr>
          <p:cNvPr id="15" name="Freeform 15"/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92" b="-1695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12758742" y="971720"/>
            <a:ext cx="5422824" cy="8343560"/>
            <a:chOff x="0" y="0"/>
            <a:chExt cx="665539" cy="10239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5539" cy="1023999"/>
            </a:xfrm>
            <a:custGeom>
              <a:avLst/>
              <a:gdLst/>
              <a:ahLst/>
              <a:cxnLst/>
              <a:rect l="l" t="t" r="r" b="b"/>
              <a:pathLst>
                <a:path w="665539" h="1023999">
                  <a:moveTo>
                    <a:pt x="221966" y="19070"/>
                  </a:moveTo>
                  <a:cubicBezTo>
                    <a:pt x="255977" y="7556"/>
                    <a:pt x="294877" y="0"/>
                    <a:pt x="332949" y="0"/>
                  </a:cubicBezTo>
                  <a:cubicBezTo>
                    <a:pt x="371021" y="0"/>
                    <a:pt x="407657" y="6476"/>
                    <a:pt x="441418" y="17990"/>
                  </a:cubicBezTo>
                  <a:cubicBezTo>
                    <a:pt x="442137" y="18350"/>
                    <a:pt x="442855" y="18350"/>
                    <a:pt x="443573" y="18710"/>
                  </a:cubicBezTo>
                  <a:cubicBezTo>
                    <a:pt x="570359" y="64765"/>
                    <a:pt x="663743" y="186379"/>
                    <a:pt x="665539" y="333193"/>
                  </a:cubicBezTo>
                  <a:lnTo>
                    <a:pt x="665539" y="1023999"/>
                  </a:lnTo>
                  <a:lnTo>
                    <a:pt x="0" y="1023999"/>
                  </a:lnTo>
                  <a:lnTo>
                    <a:pt x="0" y="333706"/>
                  </a:lnTo>
                  <a:cubicBezTo>
                    <a:pt x="1796" y="185660"/>
                    <a:pt x="93743" y="64045"/>
                    <a:pt x="221966" y="19070"/>
                  </a:cubicBezTo>
                  <a:close/>
                </a:path>
              </a:pathLst>
            </a:custGeom>
            <a:solidFill>
              <a:srgbClr val="2525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5539" cy="93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623235" y="2741554"/>
            <a:ext cx="4766797" cy="4803892"/>
            <a:chOff x="0" y="0"/>
            <a:chExt cx="812800" cy="8191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9125"/>
            </a:xfrm>
            <a:custGeom>
              <a:avLst/>
              <a:gdLst/>
              <a:ahLst/>
              <a:cxnLst/>
              <a:rect l="l" t="t" r="r" b="b"/>
              <a:pathLst>
                <a:path w="812800" h="819125">
                  <a:moveTo>
                    <a:pt x="406400" y="0"/>
                  </a:moveTo>
                  <a:cubicBezTo>
                    <a:pt x="181951" y="0"/>
                    <a:pt x="0" y="183367"/>
                    <a:pt x="0" y="409563"/>
                  </a:cubicBezTo>
                  <a:cubicBezTo>
                    <a:pt x="0" y="635758"/>
                    <a:pt x="181951" y="819125"/>
                    <a:pt x="406400" y="819125"/>
                  </a:cubicBezTo>
                  <a:cubicBezTo>
                    <a:pt x="630849" y="819125"/>
                    <a:pt x="812800" y="635758"/>
                    <a:pt x="812800" y="409563"/>
                  </a:cubicBezTo>
                  <a:cubicBezTo>
                    <a:pt x="812800" y="183367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6273" r="-627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-58130" y="931659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2162388" y="1631988"/>
            <a:ext cx="11759491" cy="0"/>
          </a:xfrm>
          <a:prstGeom prst="line">
            <a:avLst/>
          </a:prstGeom>
          <a:ln w="38100" cap="flat">
            <a:solidFill>
              <a:srgbClr val="252525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848347" y="1686934"/>
            <a:ext cx="8408420" cy="1054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6"/>
              </a:lnSpc>
            </a:pPr>
            <a:r>
              <a:rPr lang="en-US" sz="89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Motivation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3997" y="2941579"/>
            <a:ext cx="9437120" cy="236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Many of us or people around us have faced the stress of picking the “right” major</a:t>
            </a:r>
          </a:p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Students often feel uncertain, unsupported, and afraid of making the wrong choice</a:t>
            </a:r>
          </a:p>
          <a:p>
            <a:pPr algn="l">
              <a:lnSpc>
                <a:spcPts val="3780"/>
              </a:lnSpc>
            </a:pPr>
            <a:endParaRPr lang="en-US" sz="2700">
              <a:solidFill>
                <a:srgbClr val="252525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68987" y="5501898"/>
            <a:ext cx="920213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25252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if students had a tool that really understood them?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3997" y="7488296"/>
            <a:ext cx="1312218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ctr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We believe that choosing a major  shouldn’t feel like a gamble</a:t>
            </a:r>
          </a:p>
          <a:p>
            <a:pPr marL="647702" lvl="1" indent="-323851" algn="ctr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Our goal is to make the journey smoother and more personalalized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10162363" y="3296142"/>
            <a:ext cx="6090488" cy="3045244"/>
          </a:xfrm>
          <a:custGeom>
            <a:avLst/>
            <a:gdLst/>
            <a:ahLst/>
            <a:cxnLst/>
            <a:rect l="l" t="t" r="r" b="b"/>
            <a:pathLst>
              <a:path w="6090488" h="3045244">
                <a:moveTo>
                  <a:pt x="0" y="0"/>
                </a:moveTo>
                <a:lnTo>
                  <a:pt x="6090488" y="0"/>
                </a:lnTo>
                <a:lnTo>
                  <a:pt x="6090488" y="3045244"/>
                </a:lnTo>
                <a:lnTo>
                  <a:pt x="0" y="3045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 flipH="1" flipV="1">
            <a:off x="13186296" y="3296142"/>
            <a:ext cx="6090488" cy="3045244"/>
          </a:xfrm>
          <a:custGeom>
            <a:avLst/>
            <a:gdLst/>
            <a:ahLst/>
            <a:cxnLst/>
            <a:rect l="l" t="t" r="r" b="b"/>
            <a:pathLst>
              <a:path w="6090488" h="3045244">
                <a:moveTo>
                  <a:pt x="6090488" y="3045244"/>
                </a:moveTo>
                <a:lnTo>
                  <a:pt x="0" y="3045244"/>
                </a:lnTo>
                <a:lnTo>
                  <a:pt x="0" y="0"/>
                </a:lnTo>
                <a:lnTo>
                  <a:pt x="6090488" y="0"/>
                </a:lnTo>
                <a:lnTo>
                  <a:pt x="6090488" y="304524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1882327" y="2000065"/>
            <a:ext cx="5653182" cy="565318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-58130" y="931659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-7760481" y="1009650"/>
            <a:ext cx="11759491" cy="0"/>
          </a:xfrm>
          <a:prstGeom prst="line">
            <a:avLst/>
          </a:prstGeom>
          <a:ln w="38100" cap="flat">
            <a:solidFill>
              <a:srgbClr val="252525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008270" y="3337011"/>
            <a:ext cx="7762258" cy="1806489"/>
          </a:xfrm>
          <a:custGeom>
            <a:avLst/>
            <a:gdLst/>
            <a:ahLst/>
            <a:cxnLst/>
            <a:rect l="l" t="t" r="r" b="b"/>
            <a:pathLst>
              <a:path w="7762258" h="1806489">
                <a:moveTo>
                  <a:pt x="0" y="0"/>
                </a:moveTo>
                <a:lnTo>
                  <a:pt x="7762258" y="0"/>
                </a:lnTo>
                <a:lnTo>
                  <a:pt x="7762258" y="1806489"/>
                </a:lnTo>
                <a:lnTo>
                  <a:pt x="0" y="18064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35580" y="1620393"/>
            <a:ext cx="8408420" cy="1054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6"/>
              </a:lnSpc>
            </a:pPr>
            <a:r>
              <a:rPr lang="en-US" sz="89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Solution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4678" y="5372100"/>
            <a:ext cx="10549443" cy="3385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60"/>
              </a:lnSpc>
            </a:pPr>
            <a:r>
              <a:rPr lang="en-US" sz="34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is a comprehensive academic advising platform designed to address the challenges students face in selecting majors and universities. </a:t>
            </a:r>
          </a:p>
          <a:p>
            <a:pPr algn="just">
              <a:lnSpc>
                <a:spcPts val="4200"/>
              </a:lnSpc>
            </a:pPr>
            <a:endParaRPr lang="en-US" sz="34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4200"/>
              </a:lnSpc>
            </a:pPr>
            <a:endParaRPr lang="en-US" sz="34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4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416232" y="2026712"/>
            <a:ext cx="5470924" cy="4761070"/>
            <a:chOff x="0" y="0"/>
            <a:chExt cx="1440902" cy="12539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0902" cy="1253944"/>
            </a:xfrm>
            <a:custGeom>
              <a:avLst/>
              <a:gdLst/>
              <a:ahLst/>
              <a:cxnLst/>
              <a:rect l="l" t="t" r="r" b="b"/>
              <a:pathLst>
                <a:path w="1440902" h="1253944">
                  <a:moveTo>
                    <a:pt x="0" y="0"/>
                  </a:moveTo>
                  <a:lnTo>
                    <a:pt x="1440902" y="0"/>
                  </a:lnTo>
                  <a:lnTo>
                    <a:pt x="1440902" y="1253944"/>
                  </a:lnTo>
                  <a:lnTo>
                    <a:pt x="0" y="1253944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40902" cy="129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795586" y="3321988"/>
            <a:ext cx="4712217" cy="471221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13553" y="3539955"/>
            <a:ext cx="4276283" cy="427628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697" r="-69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-58130" y="931659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61502" y="1982086"/>
            <a:ext cx="9331286" cy="2225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00"/>
              </a:lnSpc>
            </a:pPr>
            <a:r>
              <a:rPr lang="en-US" sz="85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Target Users &amp; Stakeholders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1374" y="4625608"/>
            <a:ext cx="11163698" cy="4257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Primary Users: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High school graduates.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Stakeholders: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Qatar University: hosting institution.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Ministry of Education: Alignment with national education goals.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130" y="3429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8130" y="931659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184905" y="1143000"/>
            <a:ext cx="9918190" cy="96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0"/>
              </a:lnSpc>
            </a:pPr>
            <a:r>
              <a:rPr lang="en-US" sz="71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4843" y="3228425"/>
            <a:ext cx="10070400" cy="439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9"/>
              </a:lnSpc>
              <a:spcBef>
                <a:spcPct val="0"/>
              </a:spcBef>
            </a:pPr>
            <a:r>
              <a:rPr lang="en-US" sz="3549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 Users can:</a:t>
            </a:r>
          </a:p>
          <a:p>
            <a:pPr marL="766423" lvl="1" indent="-383212" algn="l">
              <a:lnSpc>
                <a:spcPts val="4969"/>
              </a:lnSpc>
              <a:spcBef>
                <a:spcPct val="0"/>
              </a:spcBef>
              <a:buFont typeface="Arial"/>
              <a:buChar char="•"/>
            </a:pPr>
            <a:r>
              <a:rPr lang="en-US" sz="3549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 Create profiles through assessments.</a:t>
            </a:r>
          </a:p>
          <a:p>
            <a:pPr marL="766423" lvl="1" indent="-383212" algn="l">
              <a:lnSpc>
                <a:spcPts val="4969"/>
              </a:lnSpc>
              <a:spcBef>
                <a:spcPct val="0"/>
              </a:spcBef>
              <a:buFont typeface="Arial"/>
              <a:buChar char="•"/>
            </a:pPr>
            <a:r>
              <a:rPr lang="en-US" sz="3549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 Create interactive forums.</a:t>
            </a:r>
          </a:p>
          <a:p>
            <a:pPr marL="766423" lvl="1" indent="-383212" algn="l">
              <a:lnSpc>
                <a:spcPts val="4969"/>
              </a:lnSpc>
              <a:spcBef>
                <a:spcPct val="0"/>
              </a:spcBef>
              <a:buFont typeface="Arial"/>
              <a:buChar char="•"/>
            </a:pPr>
            <a:r>
              <a:rPr lang="en-US" sz="3549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 Search universities/forums </a:t>
            </a:r>
          </a:p>
          <a:p>
            <a:pPr marL="766423" lvl="1" indent="-383212" algn="l">
              <a:lnSpc>
                <a:spcPts val="4969"/>
              </a:lnSpc>
              <a:spcBef>
                <a:spcPct val="0"/>
              </a:spcBef>
              <a:buFont typeface="Arial"/>
              <a:buChar char="•"/>
            </a:pPr>
            <a:r>
              <a:rPr lang="en-US" sz="3549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 Get matched with optimal academic majors</a:t>
            </a:r>
          </a:p>
          <a:p>
            <a:pPr marL="766423" lvl="1" indent="-383212" algn="l">
              <a:lnSpc>
                <a:spcPts val="4969"/>
              </a:lnSpc>
              <a:spcBef>
                <a:spcPct val="0"/>
              </a:spcBef>
              <a:buFont typeface="Arial"/>
              <a:buChar char="•"/>
            </a:pPr>
            <a:r>
              <a:rPr lang="en-US" sz="3549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Advisor AI Chatbot </a:t>
            </a:r>
          </a:p>
          <a:p>
            <a:pPr algn="l">
              <a:lnSpc>
                <a:spcPts val="4969"/>
              </a:lnSpc>
              <a:spcBef>
                <a:spcPct val="0"/>
              </a:spcBef>
            </a:pPr>
            <a:endParaRPr lang="en-US" sz="3549" dirty="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" name="drawing">
            <a:extLst>
              <a:ext uri="{FF2B5EF4-FFF2-40B4-BE49-F238E27FC236}">
                <a16:creationId xmlns:a16="http://schemas.microsoft.com/office/drawing/2014/main" id="{E737D6AB-E2C2-82F9-B15F-892B148159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34800" y="2147334"/>
            <a:ext cx="5313094" cy="6556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8130" y="931659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3574614" y="2191258"/>
            <a:ext cx="4261357" cy="7500469"/>
            <a:chOff x="0" y="0"/>
            <a:chExt cx="1122333" cy="19754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22333" cy="1975432"/>
            </a:xfrm>
            <a:custGeom>
              <a:avLst/>
              <a:gdLst/>
              <a:ahLst/>
              <a:cxnLst/>
              <a:rect l="l" t="t" r="r" b="b"/>
              <a:pathLst>
                <a:path w="1122333" h="1975432">
                  <a:moveTo>
                    <a:pt x="0" y="0"/>
                  </a:moveTo>
                  <a:lnTo>
                    <a:pt x="1122333" y="0"/>
                  </a:lnTo>
                  <a:lnTo>
                    <a:pt x="1122333" y="1975432"/>
                  </a:lnTo>
                  <a:lnTo>
                    <a:pt x="0" y="1975432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22333" cy="2013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643461" y="1392427"/>
            <a:ext cx="8941124" cy="90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00"/>
              </a:lnSpc>
            </a:pPr>
            <a:r>
              <a:rPr lang="en-US" sz="67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Arch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4843" y="2583334"/>
            <a:ext cx="9735820" cy="479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Acadeguide’s</a:t>
            </a:r>
            <a:r>
              <a:rPr lang="en-US" sz="3000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 architecture follows a three-tier model consisting of: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 presentation layer: the user-facing interface, built with  Flutter  handles all interactions.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 application layer: powered by Node.js and </a:t>
            </a:r>
            <a:r>
              <a:rPr lang="en-US" sz="3000" dirty="0" err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Supabase</a:t>
            </a:r>
            <a:r>
              <a:rPr lang="en-US" sz="3000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 services, this layer manages core logic.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 data layer: combines </a:t>
            </a:r>
            <a:r>
              <a:rPr lang="en-US" sz="3000" dirty="0" err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Supabase</a:t>
            </a:r>
            <a:r>
              <a:rPr lang="en-US" sz="3000" dirty="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 PostgreSQL (cloud) for bulk data, with local storage for encrypted user profiles.</a:t>
            </a:r>
          </a:p>
        </p:txBody>
      </p:sp>
      <p:pic>
        <p:nvPicPr>
          <p:cNvPr id="14" name="drawing">
            <a:extLst>
              <a:ext uri="{FF2B5EF4-FFF2-40B4-BE49-F238E27FC236}">
                <a16:creationId xmlns:a16="http://schemas.microsoft.com/office/drawing/2014/main" id="{C1C532B6-7E72-ACA6-0CEC-6268C9FEAD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6505" y="2551925"/>
            <a:ext cx="6786652" cy="5183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13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8130" y="932813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952728" y="2596964"/>
            <a:ext cx="1480158" cy="1480158"/>
          </a:xfrm>
          <a:custGeom>
            <a:avLst/>
            <a:gdLst/>
            <a:ahLst/>
            <a:cxnLst/>
            <a:rect l="l" t="t" r="r" b="b"/>
            <a:pathLst>
              <a:path w="1480158" h="1480158">
                <a:moveTo>
                  <a:pt x="0" y="0"/>
                </a:moveTo>
                <a:lnTo>
                  <a:pt x="1480159" y="0"/>
                </a:lnTo>
                <a:lnTo>
                  <a:pt x="1480159" y="1480158"/>
                </a:lnTo>
                <a:lnTo>
                  <a:pt x="0" y="14801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011400" y="5868286"/>
            <a:ext cx="2960451" cy="2960451"/>
          </a:xfrm>
          <a:custGeom>
            <a:avLst/>
            <a:gdLst/>
            <a:ahLst/>
            <a:cxnLst/>
            <a:rect l="l" t="t" r="r" b="b"/>
            <a:pathLst>
              <a:path w="2960451" h="2960451">
                <a:moveTo>
                  <a:pt x="0" y="0"/>
                </a:moveTo>
                <a:lnTo>
                  <a:pt x="2960452" y="0"/>
                </a:lnTo>
                <a:lnTo>
                  <a:pt x="2960452" y="2960451"/>
                </a:lnTo>
                <a:lnTo>
                  <a:pt x="0" y="29604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184905" y="1143000"/>
            <a:ext cx="9918190" cy="96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0"/>
              </a:lnSpc>
            </a:pPr>
            <a:r>
              <a:rPr lang="en-US" sz="71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Technologies Used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2644" y="3383526"/>
            <a:ext cx="13510451" cy="4812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Frontend:</a:t>
            </a:r>
          </a:p>
          <a:p>
            <a:pPr marL="1295387" lvl="2" indent="-431796" algn="l">
              <a:lnSpc>
                <a:spcPts val="4199"/>
              </a:lnSpc>
              <a:buFont typeface="Arial"/>
              <a:buChar char="⚬"/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 is built with Flutter, ensuring responsive, cross-platform interfaces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Backend:</a:t>
            </a:r>
          </a:p>
          <a:p>
            <a:pPr marL="1295387" lvl="2" indent="-431796" algn="l">
              <a:lnSpc>
                <a:spcPts val="4199"/>
              </a:lnSpc>
              <a:buFont typeface="Arial"/>
              <a:buChar char="⚬"/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is powered by Node.js, </a:t>
            </a:r>
            <a:r>
              <a:rPr lang="en-US" sz="2999" dirty="0" err="1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Supabase</a:t>
            </a: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 (Cloud database) and Floor (Local database).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Security:</a:t>
            </a:r>
          </a:p>
          <a:p>
            <a:pPr marL="1295387" lvl="2" indent="-431796" algn="l">
              <a:lnSpc>
                <a:spcPts val="4199"/>
              </a:lnSpc>
              <a:buFont typeface="Arial"/>
              <a:buChar char="⚬"/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is prioritized through AES-256 encryption for locally stored user profiles and SSL/TLS protocols for cloud communications.</a:t>
            </a:r>
          </a:p>
        </p:txBody>
      </p:sp>
      <p:pic>
        <p:nvPicPr>
          <p:cNvPr id="1026" name="Picture 2" descr="Supabase - YouTube">
            <a:extLst>
              <a:ext uri="{FF2B5EF4-FFF2-40B4-BE49-F238E27FC236}">
                <a16:creationId xmlns:a16="http://schemas.microsoft.com/office/drawing/2014/main" id="{0376C953-9247-552B-3994-C4C7DEC50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1203" y="2921171"/>
            <a:ext cx="2013079" cy="201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QLite Tutorial - An Easy Way to Master SQLite Fast">
            <a:extLst>
              <a:ext uri="{FF2B5EF4-FFF2-40B4-BE49-F238E27FC236}">
                <a16:creationId xmlns:a16="http://schemas.microsoft.com/office/drawing/2014/main" id="{E8A60C5D-0ADD-1542-502B-A253B41AC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2728" y="5122217"/>
            <a:ext cx="2726845" cy="1284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1FF07-748A-3D7D-0673-BD9073835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B587ED-7ADE-721D-3A41-2B34E81740B8}"/>
              </a:ext>
            </a:extLst>
          </p:cNvPr>
          <p:cNvSpPr/>
          <p:nvPr/>
        </p:nvSpPr>
        <p:spPr>
          <a:xfrm>
            <a:off x="28303" y="0"/>
            <a:ext cx="18288000" cy="10643741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652FCC0-B11D-609B-BB7F-B8671DAA3354}"/>
              </a:ext>
            </a:extLst>
          </p:cNvPr>
          <p:cNvSpPr/>
          <p:nvPr/>
        </p:nvSpPr>
        <p:spPr>
          <a:xfrm>
            <a:off x="-58130" y="931659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7B28EB6-A4D8-6421-B466-A5A7D0A47C3B}"/>
              </a:ext>
            </a:extLst>
          </p:cNvPr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3718D8A-7C3F-7F6F-D771-BC5BE0AB98CE}"/>
              </a:ext>
            </a:extLst>
          </p:cNvPr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F602058-6B8B-66B9-80F5-76F48B36F6CF}"/>
              </a:ext>
            </a:extLst>
          </p:cNvPr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AB52075-E1B0-77F7-2DC2-C186E1F3CCA7}"/>
              </a:ext>
            </a:extLst>
          </p:cNvPr>
          <p:cNvSpPr txBox="1"/>
          <p:nvPr/>
        </p:nvSpPr>
        <p:spPr>
          <a:xfrm>
            <a:off x="4184905" y="1143000"/>
            <a:ext cx="9918190" cy="1846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0"/>
              </a:lnSpc>
            </a:pPr>
            <a:r>
              <a:rPr lang="en-US" sz="7100" dirty="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Recommendation Engine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790B2C4-9021-CCFC-C235-0B029BE0633D}"/>
              </a:ext>
            </a:extLst>
          </p:cNvPr>
          <p:cNvSpPr txBox="1"/>
          <p:nvPr/>
        </p:nvSpPr>
        <p:spPr>
          <a:xfrm>
            <a:off x="6544722" y="2989468"/>
            <a:ext cx="5198556" cy="503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47" lvl="1" algn="l">
              <a:lnSpc>
                <a:spcPts val="4199"/>
              </a:lnSpc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Phycological perspective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0FAA93-DEC2-D969-A910-725CDAB6D6C9}"/>
              </a:ext>
            </a:extLst>
          </p:cNvPr>
          <p:cNvSpPr txBox="1"/>
          <p:nvPr/>
        </p:nvSpPr>
        <p:spPr>
          <a:xfrm>
            <a:off x="2468022" y="3586765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RIASEC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E59C39-2F61-AA56-3971-92E135345DBC}"/>
              </a:ext>
            </a:extLst>
          </p:cNvPr>
          <p:cNvSpPr txBox="1"/>
          <p:nvPr/>
        </p:nvSpPr>
        <p:spPr>
          <a:xfrm>
            <a:off x="12333530" y="3607486"/>
            <a:ext cx="3956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Big 5 personality traits</a:t>
            </a:r>
          </a:p>
        </p:txBody>
      </p:sp>
      <p:pic>
        <p:nvPicPr>
          <p:cNvPr id="1026" name="Picture 2" descr="Holland's interest Inventory: Finding the Right One | PathwayU">
            <a:extLst>
              <a:ext uri="{FF2B5EF4-FFF2-40B4-BE49-F238E27FC236}">
                <a16:creationId xmlns:a16="http://schemas.microsoft.com/office/drawing/2014/main" id="{2B7A00E2-2326-6B13-9D7A-5A1EEA599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22" y="4208591"/>
            <a:ext cx="5410200" cy="446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5 Personality Traits: The 5-Factor Model of Personality">
            <a:extLst>
              <a:ext uri="{FF2B5EF4-FFF2-40B4-BE49-F238E27FC236}">
                <a16:creationId xmlns:a16="http://schemas.microsoft.com/office/drawing/2014/main" id="{93185306-D7B4-3198-130E-F0489BF8F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0853" y="4212944"/>
            <a:ext cx="4461658" cy="446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848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5555E-D0A7-1C71-07AE-F3C50A73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2BDF4F-B239-9DE0-79F9-732A271D9C42}"/>
              </a:ext>
            </a:extLst>
          </p:cNvPr>
          <p:cNvSpPr/>
          <p:nvPr/>
        </p:nvSpPr>
        <p:spPr>
          <a:xfrm>
            <a:off x="32730" y="342900"/>
            <a:ext cx="18288000" cy="1052629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DA8E7EB-43C3-FB0B-0390-27BFF93CA65A}"/>
              </a:ext>
            </a:extLst>
          </p:cNvPr>
          <p:cNvSpPr/>
          <p:nvPr/>
        </p:nvSpPr>
        <p:spPr>
          <a:xfrm>
            <a:off x="-58130" y="931659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239B405-951D-DE1E-CC97-1893C9BBDCA1}"/>
              </a:ext>
            </a:extLst>
          </p:cNvPr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30BCDBB-326E-7E1D-3B1F-A528436C8B47}"/>
              </a:ext>
            </a:extLst>
          </p:cNvPr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A506D8A-158D-3D6F-506F-51149BB16E7B}"/>
              </a:ext>
            </a:extLst>
          </p:cNvPr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3D9A935-3533-8F2F-06B4-A037810E1898}"/>
              </a:ext>
            </a:extLst>
          </p:cNvPr>
          <p:cNvSpPr txBox="1"/>
          <p:nvPr/>
        </p:nvSpPr>
        <p:spPr>
          <a:xfrm>
            <a:off x="4184905" y="1143000"/>
            <a:ext cx="9918190" cy="1846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0"/>
              </a:lnSpc>
            </a:pPr>
            <a:r>
              <a:rPr lang="en-US" sz="7100" dirty="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Recommendation Engine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13CC824-399E-3483-4958-D77C970E66EF}"/>
              </a:ext>
            </a:extLst>
          </p:cNvPr>
          <p:cNvSpPr txBox="1"/>
          <p:nvPr/>
        </p:nvSpPr>
        <p:spPr>
          <a:xfrm>
            <a:off x="6697122" y="2989468"/>
            <a:ext cx="4893756" cy="503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47" lvl="1" algn="l">
              <a:lnSpc>
                <a:spcPts val="4199"/>
              </a:lnSpc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Engineering Perspective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67C715-7C3C-A2CC-9ABB-544B56AF75F0}"/>
              </a:ext>
            </a:extLst>
          </p:cNvPr>
          <p:cNvSpPr txBox="1"/>
          <p:nvPr/>
        </p:nvSpPr>
        <p:spPr>
          <a:xfrm>
            <a:off x="754843" y="3736985"/>
            <a:ext cx="1006687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800" b="1" dirty="0"/>
              <a:t>Data Collection:</a:t>
            </a:r>
            <a:r>
              <a:rPr lang="en-GB" sz="2800" dirty="0"/>
              <a:t> A comprehensive questionnaire captures user interests and personality traits.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/>
              <a:t>Qatar-Specific Database:</a:t>
            </a:r>
            <a:r>
              <a:rPr lang="en-GB" sz="2800" dirty="0"/>
              <a:t> All available majors in Qatar are mapped to relevant interest categories and traits.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/>
              <a:t>Weighted Scoring:</a:t>
            </a:r>
            <a:r>
              <a:rPr lang="en-GB" sz="2800" dirty="0"/>
              <a:t> The algorithm awards </a:t>
            </a:r>
            <a:r>
              <a:rPr lang="en-GB" sz="2800" b="1" dirty="0"/>
              <a:t>2 points</a:t>
            </a:r>
            <a:r>
              <a:rPr lang="en-GB" sz="2800" dirty="0"/>
              <a:t> per interest match and </a:t>
            </a:r>
            <a:r>
              <a:rPr lang="en-GB" sz="2800" b="1" dirty="0"/>
              <a:t>1 point</a:t>
            </a:r>
            <a:r>
              <a:rPr lang="en-GB" sz="2800" dirty="0"/>
              <a:t> per trait match.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/>
              <a:t>Statistical Ranking:</a:t>
            </a:r>
            <a:r>
              <a:rPr lang="en-GB" sz="2800" dirty="0"/>
              <a:t> We calculate the normal distribution to filter data and present the </a:t>
            </a:r>
            <a:r>
              <a:rPr lang="en-GB" sz="2800" b="1" dirty="0"/>
              <a:t>Top 3</a:t>
            </a:r>
            <a:r>
              <a:rPr lang="en-GB" sz="2800" dirty="0"/>
              <a:t> majors.</a:t>
            </a:r>
          </a:p>
        </p:txBody>
      </p:sp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99B22DC3-D8B9-9B78-BA41-FF68081DFC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1742" y="2491944"/>
            <a:ext cx="2700345" cy="5547155"/>
          </a:xfrm>
          <a:prstGeom prst="rect">
            <a:avLst/>
          </a:prstGeom>
        </p:spPr>
      </p:pic>
      <p:pic>
        <p:nvPicPr>
          <p:cNvPr id="13" name="Picture 1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70A09A77-9219-74F1-0655-83E057AA5D9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2952" y="2491945"/>
            <a:ext cx="2700346" cy="554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98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C530-98C8-D99C-D57B-F3892D773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1AADBC-F499-4FAD-32B2-3C14C89AFB2F}"/>
              </a:ext>
            </a:extLst>
          </p:cNvPr>
          <p:cNvSpPr/>
          <p:nvPr/>
        </p:nvSpPr>
        <p:spPr>
          <a:xfrm>
            <a:off x="0" y="0"/>
            <a:ext cx="18288000" cy="1052629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B103C5A-0549-E7CE-D1DA-A4ADA4AE2AE1}"/>
              </a:ext>
            </a:extLst>
          </p:cNvPr>
          <p:cNvSpPr/>
          <p:nvPr/>
        </p:nvSpPr>
        <p:spPr>
          <a:xfrm>
            <a:off x="-58130" y="931659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5F49B95-1A7C-23FC-E1F5-E87C1C50540F}"/>
              </a:ext>
            </a:extLst>
          </p:cNvPr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1AA4CA9-35B9-A67B-5F5B-510669C1E94D}"/>
              </a:ext>
            </a:extLst>
          </p:cNvPr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72C2690-811C-1097-56D7-90EB01F301AB}"/>
              </a:ext>
            </a:extLst>
          </p:cNvPr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66BE3D0-6ED4-8E70-A96A-AD706E1B07F2}"/>
              </a:ext>
            </a:extLst>
          </p:cNvPr>
          <p:cNvSpPr txBox="1"/>
          <p:nvPr/>
        </p:nvSpPr>
        <p:spPr>
          <a:xfrm>
            <a:off x="4184905" y="1143000"/>
            <a:ext cx="9918190" cy="93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0"/>
              </a:lnSpc>
            </a:pPr>
            <a:r>
              <a:rPr lang="en-US" sz="7100" dirty="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Discussion Forums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79FBA-667B-C03E-444E-59453FFEE3AD}"/>
              </a:ext>
            </a:extLst>
          </p:cNvPr>
          <p:cNvSpPr txBox="1"/>
          <p:nvPr/>
        </p:nvSpPr>
        <p:spPr>
          <a:xfrm>
            <a:off x="754843" y="3477272"/>
            <a:ext cx="991819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/>
              <a:t>Enable collaborative knowledge sharing </a:t>
            </a:r>
            <a:r>
              <a:rPr lang="en-GB" sz="3000" dirty="0"/>
              <a:t>by allowing users to ask questions and receive insights from peers and field experts.</a:t>
            </a:r>
          </a:p>
          <a:p>
            <a:endParaRPr lang="en-GB" sz="3000" dirty="0"/>
          </a:p>
          <a:p>
            <a:r>
              <a:rPr lang="en-GB" sz="3000" b="1" dirty="0"/>
              <a:t>Promote peer-to-peer learning</a:t>
            </a:r>
            <a:r>
              <a:rPr lang="en-GB" sz="3000" dirty="0"/>
              <a:t> through the exchange of real experiences, practical solutions, and best practices.</a:t>
            </a:r>
          </a:p>
          <a:p>
            <a:endParaRPr lang="en-GB" sz="3000" dirty="0"/>
          </a:p>
          <a:p>
            <a:r>
              <a:rPr lang="en-GB" sz="3000" b="1" dirty="0"/>
              <a:t>Promoting a supportive community environment</a:t>
            </a:r>
            <a:r>
              <a:rPr lang="en-GB" sz="3000" dirty="0"/>
              <a:t> where discussions are archived for ongoing learning and future reference</a:t>
            </a:r>
            <a:r>
              <a:rPr lang="en-GB" dirty="0"/>
              <a:t>.</a:t>
            </a:r>
          </a:p>
        </p:txBody>
      </p:sp>
      <p:pic>
        <p:nvPicPr>
          <p:cNvPr id="10" name="Picture 9" descr="A screenshot of a chat&#10;&#10;AI-generated content may be incorrect.">
            <a:extLst>
              <a:ext uri="{FF2B5EF4-FFF2-40B4-BE49-F238E27FC236}">
                <a16:creationId xmlns:a16="http://schemas.microsoft.com/office/drawing/2014/main" id="{FF3AADB1-4291-C5F9-BD59-ADF7429F070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600" y="2334627"/>
            <a:ext cx="2595878" cy="5617746"/>
          </a:xfrm>
          <a:prstGeom prst="rect">
            <a:avLst/>
          </a:prstGeom>
        </p:spPr>
      </p:pic>
      <p:pic>
        <p:nvPicPr>
          <p:cNvPr id="12" name="Picture 11" descr="A screenshot of a chat&#10;&#10;AI-generated content may be incorrect.">
            <a:extLst>
              <a:ext uri="{FF2B5EF4-FFF2-40B4-BE49-F238E27FC236}">
                <a16:creationId xmlns:a16="http://schemas.microsoft.com/office/drawing/2014/main" id="{75E9278D-F393-DA26-682E-1424A82148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413" y="2334627"/>
            <a:ext cx="2595878" cy="561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95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11A35-7C83-04AF-3586-29231DBD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CA8C84A-5E61-668A-30B5-CA0442300432}"/>
              </a:ext>
            </a:extLst>
          </p:cNvPr>
          <p:cNvSpPr/>
          <p:nvPr/>
        </p:nvSpPr>
        <p:spPr>
          <a:xfrm>
            <a:off x="70830" y="-119649"/>
            <a:ext cx="18288000" cy="1052629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6BF82F5-2125-986E-5F6F-032C6A59DFC8}"/>
              </a:ext>
            </a:extLst>
          </p:cNvPr>
          <p:cNvSpPr/>
          <p:nvPr/>
        </p:nvSpPr>
        <p:spPr>
          <a:xfrm>
            <a:off x="-58130" y="931659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D11B9FA-2D90-1EA9-80E3-D82C426A5EAF}"/>
              </a:ext>
            </a:extLst>
          </p:cNvPr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6074ED9-47B4-3BE1-2606-F53C6B76DF8D}"/>
              </a:ext>
            </a:extLst>
          </p:cNvPr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94AD15A-61C9-45DC-F05D-42BF53BAF459}"/>
              </a:ext>
            </a:extLst>
          </p:cNvPr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192776C-BB48-D944-A029-3A2DAA911D8D}"/>
              </a:ext>
            </a:extLst>
          </p:cNvPr>
          <p:cNvSpPr txBox="1"/>
          <p:nvPr/>
        </p:nvSpPr>
        <p:spPr>
          <a:xfrm>
            <a:off x="4184905" y="1136799"/>
            <a:ext cx="9918190" cy="93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0"/>
              </a:lnSpc>
            </a:pPr>
            <a:r>
              <a:rPr lang="en-US" sz="7100" dirty="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University Catalog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49F40-40B0-6BAB-0B40-8EF933E865B0}"/>
              </a:ext>
            </a:extLst>
          </p:cNvPr>
          <p:cNvSpPr txBox="1"/>
          <p:nvPr/>
        </p:nvSpPr>
        <p:spPr>
          <a:xfrm>
            <a:off x="780243" y="3329209"/>
            <a:ext cx="88913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/>
              <a:t>Provides access to a wide range of universities</a:t>
            </a:r>
            <a:r>
              <a:rPr lang="en-GB" sz="3000" dirty="0"/>
              <a:t> for students to explore.</a:t>
            </a:r>
          </a:p>
          <a:p>
            <a:endParaRPr lang="en-GB" sz="3000" dirty="0"/>
          </a:p>
          <a:p>
            <a:r>
              <a:rPr lang="en-GB" sz="3000" b="1" dirty="0"/>
              <a:t>Offers detailed program information</a:t>
            </a:r>
            <a:r>
              <a:rPr lang="en-GB" sz="3000" dirty="0"/>
              <a:t>, including majors and admission details.</a:t>
            </a:r>
          </a:p>
          <a:p>
            <a:endParaRPr lang="en-GB" sz="3000" dirty="0"/>
          </a:p>
          <a:p>
            <a:r>
              <a:rPr lang="en-GB" sz="3000" b="1" dirty="0"/>
              <a:t>Includes essential facts such as tuition fees and official university websites</a:t>
            </a:r>
            <a:r>
              <a:rPr lang="en-GB" sz="3000" dirty="0"/>
              <a:t> for easier comparison.</a:t>
            </a:r>
          </a:p>
        </p:txBody>
      </p:sp>
      <p:pic>
        <p:nvPicPr>
          <p:cNvPr id="10" name="Picture 9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39223BEC-F516-659A-FC70-1234A1C098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0763" y="2814347"/>
            <a:ext cx="2326739" cy="5035301"/>
          </a:xfrm>
          <a:prstGeom prst="rect">
            <a:avLst/>
          </a:prstGeo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FD852622-D9F8-4404-68E8-86B0514A933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6418" y="2814347"/>
            <a:ext cx="2326739" cy="503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480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B7F7C-305A-B050-D42C-F4303DA28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F69064-7F6C-725C-2D55-BB34D62781F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A885BEE-A50C-9846-0D45-C9EF14323C7F}"/>
              </a:ext>
            </a:extLst>
          </p:cNvPr>
          <p:cNvSpPr/>
          <p:nvPr/>
        </p:nvSpPr>
        <p:spPr>
          <a:xfrm>
            <a:off x="-30480" y="9105900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A0C038-01E1-E718-49F4-3DE10A79A0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65" y="0"/>
            <a:ext cx="18288000" cy="931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751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2737F-A135-A05C-CCB6-2BB96DDD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CD9E7B-BE2C-2FD8-F30C-5E3F5BF576B3}"/>
              </a:ext>
            </a:extLst>
          </p:cNvPr>
          <p:cNvSpPr/>
          <p:nvPr/>
        </p:nvSpPr>
        <p:spPr>
          <a:xfrm>
            <a:off x="58130" y="94249"/>
            <a:ext cx="18288000" cy="1052629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AEEA0F4-1D97-950D-9357-10E376724359}"/>
              </a:ext>
            </a:extLst>
          </p:cNvPr>
          <p:cNvSpPr/>
          <p:nvPr/>
        </p:nvSpPr>
        <p:spPr>
          <a:xfrm>
            <a:off x="-58130" y="936623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60437AD-9CB1-05B7-D7D6-9914815E09A1}"/>
              </a:ext>
            </a:extLst>
          </p:cNvPr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0DA59C8-6327-F1AB-B3D6-3FB7D9D71B40}"/>
              </a:ext>
            </a:extLst>
          </p:cNvPr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37C6DEB-B6AF-D01E-3DD5-3019D11C0512}"/>
              </a:ext>
            </a:extLst>
          </p:cNvPr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61E433-8BB0-4FED-871D-CFCA874E5311}"/>
              </a:ext>
            </a:extLst>
          </p:cNvPr>
          <p:cNvSpPr txBox="1"/>
          <p:nvPr/>
        </p:nvSpPr>
        <p:spPr>
          <a:xfrm>
            <a:off x="4184905" y="1136799"/>
            <a:ext cx="9918190" cy="1846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0"/>
              </a:lnSpc>
            </a:pPr>
            <a:r>
              <a:rPr lang="en-US" sz="7100" dirty="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Rasheed </a:t>
            </a:r>
          </a:p>
          <a:p>
            <a:pPr algn="ctr">
              <a:lnSpc>
                <a:spcPts val="7100"/>
              </a:lnSpc>
            </a:pPr>
            <a:r>
              <a:rPr lang="en-US" sz="7100" dirty="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(Chatbot advisor)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461CC-0004-F977-9AC0-994D35F16C81}"/>
              </a:ext>
            </a:extLst>
          </p:cNvPr>
          <p:cNvSpPr txBox="1"/>
          <p:nvPr/>
        </p:nvSpPr>
        <p:spPr>
          <a:xfrm>
            <a:off x="609600" y="3733504"/>
            <a:ext cx="11201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/>
              <a:t>Personalized Major Recommendations:</a:t>
            </a:r>
            <a:r>
              <a:rPr lang="en-GB" sz="3000" dirty="0"/>
              <a:t> Analyses user interests through a test or interactive questions to suggest suitable academic paths.</a:t>
            </a:r>
          </a:p>
          <a:p>
            <a:endParaRPr lang="en-GB" sz="3000" dirty="0"/>
          </a:p>
          <a:p>
            <a:r>
              <a:rPr lang="en-GB" sz="3000" b="1" dirty="0"/>
              <a:t>Guidance &amp; Support:</a:t>
            </a:r>
            <a:r>
              <a:rPr lang="en-GB" sz="3000" dirty="0"/>
              <a:t> Provides roadmaps, study tips, and additional advice to help users plan their education effectively.</a:t>
            </a:r>
          </a:p>
          <a:p>
            <a:endParaRPr lang="en-GB" sz="3000" dirty="0"/>
          </a:p>
          <a:p>
            <a:r>
              <a:rPr lang="en-GB" sz="3000" b="1" dirty="0"/>
              <a:t>Interactive Assistance:</a:t>
            </a:r>
            <a:r>
              <a:rPr lang="en-GB" sz="3000" dirty="0"/>
              <a:t> Offers ongoing support to students, making academic planning more accessible and tailored to individual needs.</a:t>
            </a:r>
          </a:p>
        </p:txBody>
      </p:sp>
      <p:pic>
        <p:nvPicPr>
          <p:cNvPr id="10" name="Picture 9" descr="A cartoon of a robot&#10;&#10;AI-generated content may be incorrect.">
            <a:extLst>
              <a:ext uri="{FF2B5EF4-FFF2-40B4-BE49-F238E27FC236}">
                <a16:creationId xmlns:a16="http://schemas.microsoft.com/office/drawing/2014/main" id="{C5033161-40F2-524D-9D8A-1F659439119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9500" y="3251485"/>
            <a:ext cx="2447158" cy="5295900"/>
          </a:xfrm>
          <a:prstGeom prst="rect">
            <a:avLst/>
          </a:prstGeom>
        </p:spPr>
      </p:pic>
      <p:pic>
        <p:nvPicPr>
          <p:cNvPr id="12" name="Picture 11" descr="A screenshot of a chat&#10;&#10;AI-generated content may be incorrect.">
            <a:extLst>
              <a:ext uri="{FF2B5EF4-FFF2-40B4-BE49-F238E27FC236}">
                <a16:creationId xmlns:a16="http://schemas.microsoft.com/office/drawing/2014/main" id="{BBB57688-0103-2FFD-4597-0E5BC5CC4E1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3209212"/>
            <a:ext cx="2447158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72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8130" y="931659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3036585">
            <a:off x="9201407" y="4620153"/>
            <a:ext cx="8925137" cy="4462569"/>
          </a:xfrm>
          <a:custGeom>
            <a:avLst/>
            <a:gdLst/>
            <a:ahLst/>
            <a:cxnLst/>
            <a:rect l="l" t="t" r="r" b="b"/>
            <a:pathLst>
              <a:path w="8925137" h="4462569">
                <a:moveTo>
                  <a:pt x="0" y="0"/>
                </a:moveTo>
                <a:lnTo>
                  <a:pt x="8925137" y="0"/>
                </a:lnTo>
                <a:lnTo>
                  <a:pt x="8925137" y="4462569"/>
                </a:lnTo>
                <a:lnTo>
                  <a:pt x="0" y="44625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5" name="Group 5"/>
          <p:cNvGrpSpPr/>
          <p:nvPr/>
        </p:nvGrpSpPr>
        <p:grpSpPr>
          <a:xfrm>
            <a:off x="11277600" y="1464644"/>
            <a:ext cx="7973539" cy="797353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30482" r="-3048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356777" y="3816056"/>
            <a:ext cx="6107610" cy="1635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94"/>
              </a:lnSpc>
            </a:pPr>
            <a:r>
              <a:rPr lang="en-US" sz="13922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F788B-E4E6-DC26-653E-38F6BFA30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625DEA-664D-00DA-9885-8BA6F60A08BC}"/>
              </a:ext>
            </a:extLst>
          </p:cNvPr>
          <p:cNvSpPr/>
          <p:nvPr/>
        </p:nvSpPr>
        <p:spPr>
          <a:xfrm>
            <a:off x="70830" y="-119649"/>
            <a:ext cx="18288000" cy="1052629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0919DC7-3B9D-BE91-7C7F-90A00D516459}"/>
              </a:ext>
            </a:extLst>
          </p:cNvPr>
          <p:cNvSpPr/>
          <p:nvPr/>
        </p:nvSpPr>
        <p:spPr>
          <a:xfrm>
            <a:off x="-58130" y="9316593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5697C82-61F1-6177-CDCD-3E7621DA541B}"/>
              </a:ext>
            </a:extLst>
          </p:cNvPr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D462EDF-968C-5454-038F-3BF24650C9A2}"/>
              </a:ext>
            </a:extLst>
          </p:cNvPr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E42A626-216B-FC21-F79E-3F0D3B3815B2}"/>
              </a:ext>
            </a:extLst>
          </p:cNvPr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0941B74-637D-CEFC-91B7-6656EE0CB90D}"/>
              </a:ext>
            </a:extLst>
          </p:cNvPr>
          <p:cNvSpPr txBox="1"/>
          <p:nvPr/>
        </p:nvSpPr>
        <p:spPr>
          <a:xfrm>
            <a:off x="4184905" y="1136799"/>
            <a:ext cx="9918190" cy="1846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0"/>
              </a:lnSpc>
            </a:pPr>
            <a:r>
              <a:rPr lang="en-US" sz="7100" dirty="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Ethical Consideration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A4B9D5-14F3-D879-47DC-F5FBA18D4454}"/>
              </a:ext>
            </a:extLst>
          </p:cNvPr>
          <p:cNvSpPr txBox="1"/>
          <p:nvPr/>
        </p:nvSpPr>
        <p:spPr>
          <a:xfrm>
            <a:off x="742143" y="3551907"/>
            <a:ext cx="1021795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/>
              <a:t>Privacy Protection</a:t>
            </a:r>
            <a:endParaRPr lang="en-GB" sz="3000" dirty="0"/>
          </a:p>
          <a:p>
            <a:pPr lvl="1"/>
            <a:r>
              <a:rPr lang="en-GB" sz="3000" dirty="0"/>
              <a:t>Only the user’s necessary data is being collected. </a:t>
            </a:r>
          </a:p>
          <a:p>
            <a:pPr lvl="1"/>
            <a:r>
              <a:rPr lang="en-GB" sz="3000" dirty="0"/>
              <a:t>Data is securely stored and not shared with third parties.</a:t>
            </a:r>
          </a:p>
          <a:p>
            <a:r>
              <a:rPr lang="en-GB" sz="3000" b="1" dirty="0"/>
              <a:t>Accessibility</a:t>
            </a:r>
            <a:endParaRPr lang="en-GB" sz="3000" dirty="0"/>
          </a:p>
          <a:p>
            <a:pPr lvl="1"/>
            <a:r>
              <a:rPr lang="en-GB" sz="3000" dirty="0"/>
              <a:t>The app provides the ease of use to all users accessing the features is not a challenge to most users.</a:t>
            </a:r>
          </a:p>
          <a:p>
            <a:r>
              <a:rPr lang="en-GB" sz="3000" b="1" dirty="0"/>
              <a:t>User Safety</a:t>
            </a:r>
            <a:endParaRPr lang="en-GB" sz="3000" dirty="0"/>
          </a:p>
          <a:p>
            <a:pPr lvl="1"/>
            <a:r>
              <a:rPr lang="en-GB" sz="3000" dirty="0"/>
              <a:t>Features designed to prevent misuse or harm.</a:t>
            </a:r>
          </a:p>
          <a:p>
            <a:r>
              <a:rPr lang="en-GB" sz="3000" b="1" dirty="0"/>
              <a:t>Responsible Use of AI</a:t>
            </a:r>
            <a:r>
              <a:rPr lang="en-GB" sz="3000" dirty="0"/>
              <a:t> </a:t>
            </a:r>
            <a:endParaRPr lang="en-GB" sz="3000" i="1" dirty="0"/>
          </a:p>
          <a:p>
            <a:r>
              <a:rPr lang="en-GB" sz="3000" i="1" dirty="0"/>
              <a:t>        All AI responses are within the academic advising scope and the user is not allowed to ask anything beyond that scope.  </a:t>
            </a:r>
            <a:endParaRPr lang="en-GB" sz="3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AE7889-08EF-AE4A-4998-5EAB5FA7E1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76258" y="2060033"/>
            <a:ext cx="65024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52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B5F8E-B884-4608-4F85-C5A0E59A6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3849A7-20FB-DD57-CB69-AC753237CEB5}"/>
              </a:ext>
            </a:extLst>
          </p:cNvPr>
          <p:cNvSpPr/>
          <p:nvPr/>
        </p:nvSpPr>
        <p:spPr>
          <a:xfrm>
            <a:off x="32730" y="58394"/>
            <a:ext cx="18288000" cy="1052629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80E293E-62BC-9791-C269-E42430A63939}"/>
              </a:ext>
            </a:extLst>
          </p:cNvPr>
          <p:cNvSpPr/>
          <p:nvPr/>
        </p:nvSpPr>
        <p:spPr>
          <a:xfrm>
            <a:off x="7330" y="9120102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7068809-6EC1-9E73-8CFB-7044551E46F8}"/>
              </a:ext>
            </a:extLst>
          </p:cNvPr>
          <p:cNvSpPr/>
          <p:nvPr/>
        </p:nvSpPr>
        <p:spPr>
          <a:xfrm>
            <a:off x="1003300" y="775960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4CA5AF8-AF07-004F-C930-0FD3E6D3605F}"/>
              </a:ext>
            </a:extLst>
          </p:cNvPr>
          <p:cNvSpPr/>
          <p:nvPr/>
        </p:nvSpPr>
        <p:spPr>
          <a:xfrm>
            <a:off x="729443" y="25400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9B9BED4-75A0-49DB-60B4-062E1C7731DE}"/>
              </a:ext>
            </a:extLst>
          </p:cNvPr>
          <p:cNvSpPr/>
          <p:nvPr/>
        </p:nvSpPr>
        <p:spPr>
          <a:xfrm>
            <a:off x="14901013" y="25400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049B969-0BD2-4157-B0FF-EDE6DE8EC29D}"/>
              </a:ext>
            </a:extLst>
          </p:cNvPr>
          <p:cNvSpPr txBox="1"/>
          <p:nvPr/>
        </p:nvSpPr>
        <p:spPr>
          <a:xfrm>
            <a:off x="4159505" y="991993"/>
            <a:ext cx="9918190" cy="93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0"/>
              </a:lnSpc>
            </a:pPr>
            <a:r>
              <a:rPr lang="en-US" sz="7100" dirty="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CBAF43-9D15-07D2-6BCA-3D054B23B47B}"/>
              </a:ext>
            </a:extLst>
          </p:cNvPr>
          <p:cNvSpPr txBox="1"/>
          <p:nvPr/>
        </p:nvSpPr>
        <p:spPr>
          <a:xfrm>
            <a:off x="889000" y="3287713"/>
            <a:ext cx="10439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Adaptive, Multistage Assessments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Dynamic questionnaires that adjust based on previous answers.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Provides more personalized and accurate recommendations.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Planning Tool &amp; Career Roadmap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Visualize academic journey &amp; plan semesters.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Align education with potential career paths using labor market data.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Long-term guidance, not just one-time recommendations.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Required Resources &amp; Collaboration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Larger datasets &amp; cloud infrastructure for scalability.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Partnerships with universities, education departments, and career centers</a:t>
            </a:r>
            <a:r>
              <a:rPr lang="en-US" altLang="en-US" sz="2400" b="1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4E0D52-F3B0-1280-F571-C215F1EF8F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25458" y="1960949"/>
            <a:ext cx="65024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59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130" y="3429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700" y="9324695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801046" y="3693152"/>
            <a:ext cx="7486954" cy="5828012"/>
            <a:chOff x="0" y="0"/>
            <a:chExt cx="1971873" cy="1534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71873" cy="1534950"/>
            </a:xfrm>
            <a:custGeom>
              <a:avLst/>
              <a:gdLst/>
              <a:ahLst/>
              <a:cxnLst/>
              <a:rect l="l" t="t" r="r" b="b"/>
              <a:pathLst>
                <a:path w="1971873" h="1534950">
                  <a:moveTo>
                    <a:pt x="0" y="0"/>
                  </a:moveTo>
                  <a:lnTo>
                    <a:pt x="1971873" y="0"/>
                  </a:lnTo>
                  <a:lnTo>
                    <a:pt x="1971873" y="1534950"/>
                  </a:lnTo>
                  <a:lnTo>
                    <a:pt x="0" y="153495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71873" cy="1573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61020" y="4281209"/>
            <a:ext cx="7124537" cy="3909432"/>
            <a:chOff x="0" y="0"/>
            <a:chExt cx="2293767" cy="125865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93767" cy="1258654"/>
            </a:xfrm>
            <a:custGeom>
              <a:avLst/>
              <a:gdLst/>
              <a:ahLst/>
              <a:cxnLst/>
              <a:rect l="l" t="t" r="r" b="b"/>
              <a:pathLst>
                <a:path w="2293767" h="1258654">
                  <a:moveTo>
                    <a:pt x="24993" y="0"/>
                  </a:moveTo>
                  <a:lnTo>
                    <a:pt x="2268774" y="0"/>
                  </a:lnTo>
                  <a:cubicBezTo>
                    <a:pt x="2282578" y="0"/>
                    <a:pt x="2293767" y="11190"/>
                    <a:pt x="2293767" y="24993"/>
                  </a:cubicBezTo>
                  <a:lnTo>
                    <a:pt x="2293767" y="1233661"/>
                  </a:lnTo>
                  <a:cubicBezTo>
                    <a:pt x="2293767" y="1247464"/>
                    <a:pt x="2282578" y="1258654"/>
                    <a:pt x="2268774" y="1258654"/>
                  </a:cubicBezTo>
                  <a:lnTo>
                    <a:pt x="24993" y="1258654"/>
                  </a:lnTo>
                  <a:cubicBezTo>
                    <a:pt x="11190" y="1258654"/>
                    <a:pt x="0" y="1247464"/>
                    <a:pt x="0" y="1233661"/>
                  </a:cubicBezTo>
                  <a:lnTo>
                    <a:pt x="0" y="24993"/>
                  </a:lnTo>
                  <a:cubicBezTo>
                    <a:pt x="0" y="11190"/>
                    <a:pt x="11190" y="0"/>
                    <a:pt x="24993" y="0"/>
                  </a:cubicBezTo>
                  <a:close/>
                </a:path>
              </a:pathLst>
            </a:custGeom>
            <a:blipFill>
              <a:blip r:embed="rId5"/>
              <a:stretch>
                <a:fillRect t="-1027" b="-102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2132442"/>
            <a:ext cx="8290925" cy="1073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85"/>
              </a:lnSpc>
            </a:pPr>
            <a:r>
              <a:rPr lang="en-US" sz="83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Challenges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2644" y="3383526"/>
            <a:ext cx="9957412" cy="4812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Authentication-Driven Routing:</a:t>
            </a:r>
          </a:p>
          <a:p>
            <a:pPr marL="1295387" lvl="2" indent="-431796" algn="l">
              <a:lnSpc>
                <a:spcPts val="4199"/>
              </a:lnSpc>
              <a:buFont typeface="Arial"/>
              <a:buChar char="⚬"/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Implementing seamless navigation between the login screen and dashboard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Secure Password Reset:</a:t>
            </a:r>
          </a:p>
          <a:p>
            <a:pPr marL="1295387" lvl="2" indent="-431796" algn="l">
              <a:lnSpc>
                <a:spcPts val="4199"/>
              </a:lnSpc>
              <a:buFont typeface="Arial"/>
              <a:buChar char="⚬"/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initially relied on email links which demanded deployment. </a:t>
            </a:r>
          </a:p>
          <a:p>
            <a:pPr marL="647694" lvl="1" indent="-323847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Finding the best approach to deliver our test.</a:t>
            </a:r>
          </a:p>
          <a:p>
            <a:pPr marL="647694" lvl="1" indent="-323847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Dealing with manual data gathering.</a:t>
            </a:r>
          </a:p>
          <a:p>
            <a:pPr marL="863591" lvl="2" algn="l">
              <a:lnSpc>
                <a:spcPts val="4199"/>
              </a:lnSpc>
            </a:pPr>
            <a:endParaRPr lang="en-US" sz="2999" dirty="0">
              <a:solidFill>
                <a:srgbClr val="252525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" y="3429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229266" y="8510423"/>
            <a:ext cx="2777960" cy="1533174"/>
            <a:chOff x="0" y="0"/>
            <a:chExt cx="731644" cy="4037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1644" cy="403799"/>
            </a:xfrm>
            <a:custGeom>
              <a:avLst/>
              <a:gdLst/>
              <a:ahLst/>
              <a:cxnLst/>
              <a:rect l="l" t="t" r="r" b="b"/>
              <a:pathLst>
                <a:path w="731644" h="403799">
                  <a:moveTo>
                    <a:pt x="0" y="0"/>
                  </a:moveTo>
                  <a:lnTo>
                    <a:pt x="731644" y="0"/>
                  </a:lnTo>
                  <a:lnTo>
                    <a:pt x="731644" y="403799"/>
                  </a:lnTo>
                  <a:lnTo>
                    <a:pt x="0" y="403799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31644" cy="441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58130" y="9316594"/>
            <a:ext cx="18404260" cy="1940813"/>
          </a:xfrm>
          <a:custGeom>
            <a:avLst/>
            <a:gdLst/>
            <a:ahLst/>
            <a:cxnLst/>
            <a:rect l="l" t="t" r="r" b="b"/>
            <a:pathLst>
              <a:path w="18404260" h="1940813">
                <a:moveTo>
                  <a:pt x="0" y="0"/>
                </a:moveTo>
                <a:lnTo>
                  <a:pt x="18404260" y="0"/>
                </a:lnTo>
                <a:lnTo>
                  <a:pt x="18404260" y="1940812"/>
                </a:lnTo>
                <a:lnTo>
                  <a:pt x="0" y="1940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1035249" y="3093273"/>
            <a:ext cx="7252751" cy="5754313"/>
            <a:chOff x="0" y="0"/>
            <a:chExt cx="1024455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24455" cy="812800"/>
            </a:xfrm>
            <a:custGeom>
              <a:avLst/>
              <a:gdLst/>
              <a:ahLst/>
              <a:cxnLst/>
              <a:rect l="l" t="t" r="r" b="b"/>
              <a:pathLst>
                <a:path w="1024455" h="812800">
                  <a:moveTo>
                    <a:pt x="512228" y="0"/>
                  </a:moveTo>
                  <a:cubicBezTo>
                    <a:pt x="229332" y="0"/>
                    <a:pt x="0" y="181951"/>
                    <a:pt x="0" y="406400"/>
                  </a:cubicBezTo>
                  <a:cubicBezTo>
                    <a:pt x="0" y="630849"/>
                    <a:pt x="229332" y="812800"/>
                    <a:pt x="512228" y="812800"/>
                  </a:cubicBezTo>
                  <a:cubicBezTo>
                    <a:pt x="795123" y="812800"/>
                    <a:pt x="1024455" y="630849"/>
                    <a:pt x="1024455" y="406400"/>
                  </a:cubicBezTo>
                  <a:cubicBezTo>
                    <a:pt x="1024455" y="181951"/>
                    <a:pt x="795123" y="0"/>
                    <a:pt x="512228" y="0"/>
                  </a:cubicBezTo>
                  <a:close/>
                </a:path>
              </a:pathLst>
            </a:custGeom>
            <a:blipFill>
              <a:blip r:embed="rId5"/>
              <a:stretch>
                <a:fillRect l="-6041" r="-60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920766"/>
            <a:ext cx="906317" cy="215868"/>
          </a:xfrm>
          <a:custGeom>
            <a:avLst/>
            <a:gdLst/>
            <a:ahLst/>
            <a:cxnLst/>
            <a:rect l="l" t="t" r="r" b="b"/>
            <a:pathLst>
              <a:path w="906317" h="215868">
                <a:moveTo>
                  <a:pt x="0" y="0"/>
                </a:moveTo>
                <a:lnTo>
                  <a:pt x="906317" y="0"/>
                </a:lnTo>
                <a:lnTo>
                  <a:pt x="906317" y="215868"/>
                </a:lnTo>
                <a:lnTo>
                  <a:pt x="0" y="215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754843" y="170206"/>
            <a:ext cx="3688843" cy="858494"/>
          </a:xfrm>
          <a:custGeom>
            <a:avLst/>
            <a:gdLst/>
            <a:ahLst/>
            <a:cxnLst/>
            <a:rect l="l" t="t" r="r" b="b"/>
            <a:pathLst>
              <a:path w="3688843" h="858494">
                <a:moveTo>
                  <a:pt x="0" y="0"/>
                </a:moveTo>
                <a:lnTo>
                  <a:pt x="3688843" y="0"/>
                </a:lnTo>
                <a:lnTo>
                  <a:pt x="3688843" y="858494"/>
                </a:lnTo>
                <a:lnTo>
                  <a:pt x="0" y="858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926413" y="170206"/>
            <a:ext cx="2726845" cy="1278796"/>
          </a:xfrm>
          <a:custGeom>
            <a:avLst/>
            <a:gdLst/>
            <a:ahLst/>
            <a:cxnLst/>
            <a:rect l="l" t="t" r="r" b="b"/>
            <a:pathLst>
              <a:path w="2726845" h="1278796">
                <a:moveTo>
                  <a:pt x="0" y="0"/>
                </a:moveTo>
                <a:lnTo>
                  <a:pt x="2726846" y="0"/>
                </a:lnTo>
                <a:lnTo>
                  <a:pt x="2726846" y="1278796"/>
                </a:lnTo>
                <a:lnTo>
                  <a:pt x="0" y="1278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2617396"/>
            <a:ext cx="8290925" cy="1054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6"/>
              </a:lnSpc>
            </a:pPr>
            <a:r>
              <a:rPr lang="en-US" sz="8900">
                <a:solidFill>
                  <a:srgbClr val="252525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4287700"/>
            <a:ext cx="8496300" cy="3196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dirty="0" err="1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Acadeguide</a:t>
            </a:r>
            <a:r>
              <a:rPr lang="en-US" sz="2999" dirty="0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 empowers students to make confident academic decisions by giving them the essential information they need. It ensures a smoother, less stressful journey through higher education, helping students move forward with clarity and confidence.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99379" y="1302268"/>
            <a:ext cx="7289242" cy="7289242"/>
          </a:xfrm>
          <a:custGeom>
            <a:avLst/>
            <a:gdLst/>
            <a:ahLst/>
            <a:cxnLst/>
            <a:rect l="l" t="t" r="r" b="b"/>
            <a:pathLst>
              <a:path w="7289242" h="7289242">
                <a:moveTo>
                  <a:pt x="0" y="0"/>
                </a:moveTo>
                <a:lnTo>
                  <a:pt x="7289242" y="0"/>
                </a:lnTo>
                <a:lnTo>
                  <a:pt x="7289242" y="7289242"/>
                </a:lnTo>
                <a:lnTo>
                  <a:pt x="0" y="7289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415979" y="4362132"/>
            <a:ext cx="11456041" cy="1562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07"/>
              </a:lnSpc>
            </a:pPr>
            <a:r>
              <a:rPr lang="en-US" sz="11500" dirty="0">
                <a:solidFill>
                  <a:srgbClr val="FFFFFF"/>
                </a:solidFill>
                <a:latin typeface="Bauhaus 93" pitchFamily="82" charset="77"/>
                <a:ea typeface="Archivo Black"/>
                <a:cs typeface="AkayaTelivigala" pitchFamily="2" charset="77"/>
                <a:sym typeface="Archivo Black"/>
              </a:rPr>
              <a:t>Thank</a:t>
            </a:r>
            <a:r>
              <a:rPr lang="en-US" sz="13699" dirty="0">
                <a:solidFill>
                  <a:srgbClr val="FFFFFF"/>
                </a:solidFill>
                <a:latin typeface="Bauhaus 93" pitchFamily="82" charset="77"/>
                <a:ea typeface="Archivo Black"/>
                <a:cs typeface="AkayaTelivigala" pitchFamily="2" charset="77"/>
                <a:sym typeface="Archivo Black"/>
              </a:rPr>
              <a:t>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42364" y="5780068"/>
            <a:ext cx="11203273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-223380" y="9258300"/>
            <a:ext cx="15310302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9763917" y="1014412"/>
            <a:ext cx="14264946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6748F68-5F5F-4B91-4745-1129676E5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761" y="450336"/>
            <a:ext cx="6922010" cy="1390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838</Words>
  <Application>Microsoft Macintosh PowerPoint</Application>
  <PresentationFormat>Custom</PresentationFormat>
  <Paragraphs>130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Bauhaus 93</vt:lpstr>
      <vt:lpstr>Canva Sans</vt:lpstr>
      <vt:lpstr>Canva Sans Bold</vt:lpstr>
      <vt:lpstr>Canva Sans Italics</vt:lpstr>
      <vt:lpstr>Aptos</vt:lpstr>
      <vt:lpstr>Arial</vt:lpstr>
      <vt:lpstr>Lato</vt:lpstr>
      <vt:lpstr>Archivo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Senior Design Project I - Presentation</dc:title>
  <cp:lastModifiedBy>Omar Khaled Ahmed Mohamed Qutb</cp:lastModifiedBy>
  <cp:revision>11</cp:revision>
  <dcterms:created xsi:type="dcterms:W3CDTF">2006-08-16T00:00:00Z</dcterms:created>
  <dcterms:modified xsi:type="dcterms:W3CDTF">2025-11-22T09:23:07Z</dcterms:modified>
  <dc:identifier>DAGlFCsbNik</dc:identifier>
</cp:coreProperties>
</file>