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D2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58"/>
  </p:normalViewPr>
  <p:slideViewPr>
    <p:cSldViewPr snapToGrid="0">
      <p:cViewPr varScale="1">
        <p:scale>
          <a:sx n="17" d="100"/>
          <a:sy n="17" d="100"/>
        </p:scale>
        <p:origin x="342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B2D85F-D1AF-A34F-98D0-DA5547BF68E3}" type="datetimeFigureOut">
              <a:rPr lang="en-US" smtClean="0"/>
              <a:t>11/22/2025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9134E8-898D-174A-8E9A-5959E6C5012D}" type="slidenum">
              <a:rPr lang="en-US" smtClean="0"/>
              <a:t>‹#›</a:t>
            </a:fld>
            <a:endParaRPr lang="en-US"/>
          </a:p>
        </p:txBody>
      </p:sp>
    </p:spTree>
    <p:extLst>
      <p:ext uri="{BB962C8B-B14F-4D97-AF65-F5344CB8AC3E}">
        <p14:creationId xmlns:p14="http://schemas.microsoft.com/office/powerpoint/2010/main" val="167898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GB"/>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7CFA7AA-F3A7-554C-AC7A-56FB8C565F8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413728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7CFA7AA-F3A7-554C-AC7A-56FB8C565F8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4229305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GB"/>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7CFA7AA-F3A7-554C-AC7A-56FB8C565F8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425160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7CFA7AA-F3A7-554C-AC7A-56FB8C565F8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2270395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7CFA7AA-F3A7-554C-AC7A-56FB8C565F83}"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2763841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7CFA7AA-F3A7-554C-AC7A-56FB8C565F83}"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2640201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CFA7AA-F3A7-554C-AC7A-56FB8C565F83}"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3559169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A7CFA7AA-F3A7-554C-AC7A-56FB8C565F8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3738381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GB"/>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A7CFA7AA-F3A7-554C-AC7A-56FB8C565F8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85894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7CFA7AA-F3A7-554C-AC7A-56FB8C565F8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2112651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7CFA7AA-F3A7-554C-AC7A-56FB8C565F8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BBA1C-9CAE-5343-B334-1E198A3A3FB6}" type="slidenum">
              <a:rPr lang="en-US" smtClean="0"/>
              <a:t>‹#›</a:t>
            </a:fld>
            <a:endParaRPr lang="en-US"/>
          </a:p>
        </p:txBody>
      </p:sp>
    </p:spTree>
    <p:extLst>
      <p:ext uri="{BB962C8B-B14F-4D97-AF65-F5344CB8AC3E}">
        <p14:creationId xmlns:p14="http://schemas.microsoft.com/office/powerpoint/2010/main" val="3917225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A7CFA7AA-F3A7-554C-AC7A-56FB8C565F83}" type="datetimeFigureOut">
              <a:rPr lang="en-US" smtClean="0"/>
              <a:t>11/22/2025</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DB4BBA1C-9CAE-5343-B334-1E198A3A3FB6}" type="slidenum">
              <a:rPr lang="en-US" smtClean="0"/>
              <a:t>‹#›</a:t>
            </a:fld>
            <a:endParaRPr lang="en-US"/>
          </a:p>
        </p:txBody>
      </p:sp>
    </p:spTree>
    <p:extLst>
      <p:ext uri="{BB962C8B-B14F-4D97-AF65-F5344CB8AC3E}">
        <p14:creationId xmlns:p14="http://schemas.microsoft.com/office/powerpoint/2010/main" val="8574273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73DF2C0-F147-B8E6-CE42-81C9044F4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6122" y="702041"/>
            <a:ext cx="6547602" cy="30705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F16D43-5833-A41C-303A-80D2AC69E4DB}"/>
              </a:ext>
            </a:extLst>
          </p:cNvPr>
          <p:cNvSpPr txBox="1"/>
          <p:nvPr/>
        </p:nvSpPr>
        <p:spPr>
          <a:xfrm>
            <a:off x="741489" y="1711538"/>
            <a:ext cx="18642065" cy="5016758"/>
          </a:xfrm>
          <a:prstGeom prst="rect">
            <a:avLst/>
          </a:prstGeom>
          <a:noFill/>
        </p:spPr>
        <p:txBody>
          <a:bodyPr wrap="square" rtlCol="0">
            <a:spAutoFit/>
          </a:bodyPr>
          <a:lstStyle/>
          <a:p>
            <a:r>
              <a:rPr lang="en-US" sz="4000" b="1" dirty="0"/>
              <a:t>Delivered by</a:t>
            </a:r>
          </a:p>
          <a:p>
            <a:r>
              <a:rPr lang="en-US" sz="4000" dirty="0"/>
              <a:t>Mohammad Ahmad (202002453)</a:t>
            </a:r>
            <a:endParaRPr lang="en-GB" sz="4000" dirty="0"/>
          </a:p>
          <a:p>
            <a:r>
              <a:rPr lang="en-US" sz="4000" dirty="0"/>
              <a:t>Omar Qutb (202106170)</a:t>
            </a:r>
            <a:endParaRPr lang="en-GB" sz="4000" dirty="0"/>
          </a:p>
          <a:p>
            <a:r>
              <a:rPr lang="en-US" sz="4000" dirty="0"/>
              <a:t>Obada </a:t>
            </a:r>
            <a:r>
              <a:rPr lang="en-US" sz="4000" dirty="0" err="1"/>
              <a:t>Alrefai</a:t>
            </a:r>
            <a:r>
              <a:rPr lang="en-US" sz="4000" dirty="0"/>
              <a:t>  (202110207)</a:t>
            </a:r>
          </a:p>
          <a:p>
            <a:endParaRPr lang="en-US" sz="4000" dirty="0"/>
          </a:p>
          <a:p>
            <a:r>
              <a:rPr lang="en-US" sz="4000" b="1" dirty="0"/>
              <a:t>Under the supervision of </a:t>
            </a:r>
          </a:p>
          <a:p>
            <a:r>
              <a:rPr lang="en-US" sz="4000" dirty="0"/>
              <a:t>Prof. Rehab </a:t>
            </a:r>
            <a:r>
              <a:rPr lang="en-US" sz="4000" dirty="0" err="1"/>
              <a:t>Duwairi</a:t>
            </a:r>
            <a:r>
              <a:rPr lang="en-GB" sz="4000" dirty="0"/>
              <a:t> </a:t>
            </a:r>
          </a:p>
          <a:p>
            <a:endParaRPr lang="en-US" sz="4000" dirty="0"/>
          </a:p>
        </p:txBody>
      </p:sp>
      <p:sp>
        <p:nvSpPr>
          <p:cNvPr id="9" name="TextBox 8">
            <a:extLst>
              <a:ext uri="{FF2B5EF4-FFF2-40B4-BE49-F238E27FC236}">
                <a16:creationId xmlns:a16="http://schemas.microsoft.com/office/drawing/2014/main" id="{40912E51-1C96-5A03-F8BC-1C41B38A53BB}"/>
              </a:ext>
            </a:extLst>
          </p:cNvPr>
          <p:cNvSpPr txBox="1"/>
          <p:nvPr/>
        </p:nvSpPr>
        <p:spPr>
          <a:xfrm>
            <a:off x="7295925" y="5728368"/>
            <a:ext cx="15697045" cy="2617320"/>
          </a:xfrm>
          <a:prstGeom prst="rect">
            <a:avLst/>
          </a:prstGeom>
          <a:noFill/>
        </p:spPr>
        <p:txBody>
          <a:bodyPr wrap="square" rtlCol="0">
            <a:spAutoFit/>
          </a:bodyPr>
          <a:lstStyle/>
          <a:p>
            <a:pPr algn="ctr">
              <a:lnSpc>
                <a:spcPct val="150000"/>
              </a:lnSpc>
            </a:pPr>
            <a:r>
              <a:rPr lang="en-US" sz="6600" b="1" dirty="0">
                <a:latin typeface="+mj-lt"/>
                <a:ea typeface="Apple Color Emoji" pitchFamily="2" charset="0"/>
                <a:cs typeface="AkayaTelivigala" pitchFamily="2" charset="77"/>
              </a:rPr>
              <a:t>Your Personal Academic Guide</a:t>
            </a:r>
          </a:p>
          <a:p>
            <a:pPr algn="ctr">
              <a:lnSpc>
                <a:spcPct val="150000"/>
              </a:lnSpc>
            </a:pPr>
            <a:r>
              <a:rPr lang="en-US" sz="4800" i="1" dirty="0">
                <a:latin typeface="+mj-lt"/>
                <a:ea typeface="Apple Color Emoji" pitchFamily="2" charset="0"/>
                <a:cs typeface="AkayaTelivigala" pitchFamily="2" charset="77"/>
              </a:rPr>
              <a:t>Helping students choose the right major </a:t>
            </a:r>
          </a:p>
        </p:txBody>
      </p:sp>
      <p:sp>
        <p:nvSpPr>
          <p:cNvPr id="10" name="Rounded Rectangle 9">
            <a:extLst>
              <a:ext uri="{FF2B5EF4-FFF2-40B4-BE49-F238E27FC236}">
                <a16:creationId xmlns:a16="http://schemas.microsoft.com/office/drawing/2014/main" id="{8E346A79-A222-A664-9D7A-971E007FFD30}"/>
              </a:ext>
            </a:extLst>
          </p:cNvPr>
          <p:cNvSpPr/>
          <p:nvPr/>
        </p:nvSpPr>
        <p:spPr>
          <a:xfrm>
            <a:off x="1403610" y="9117190"/>
            <a:ext cx="27467994" cy="5601029"/>
          </a:xfrm>
          <a:prstGeom prst="roundRect">
            <a:avLst/>
          </a:prstGeom>
          <a:solidFill>
            <a:schemeClr val="accent2"/>
          </a:solidFill>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DBE80CE1-5AAA-6BD5-BD6B-C5411D654D00}"/>
              </a:ext>
            </a:extLst>
          </p:cNvPr>
          <p:cNvSpPr/>
          <p:nvPr/>
        </p:nvSpPr>
        <p:spPr>
          <a:xfrm>
            <a:off x="1403609" y="15263954"/>
            <a:ext cx="13527561" cy="1117744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a:extLst>
              <a:ext uri="{FF2B5EF4-FFF2-40B4-BE49-F238E27FC236}">
                <a16:creationId xmlns:a16="http://schemas.microsoft.com/office/drawing/2014/main" id="{6FDFF902-2E1A-B34B-8B45-CC79FFCA6D68}"/>
              </a:ext>
            </a:extLst>
          </p:cNvPr>
          <p:cNvSpPr/>
          <p:nvPr/>
        </p:nvSpPr>
        <p:spPr>
          <a:xfrm>
            <a:off x="15878717" y="15263953"/>
            <a:ext cx="12992887" cy="1117744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59FAC0C-D5DD-75A1-1D98-A2F2495BE32A}"/>
              </a:ext>
            </a:extLst>
          </p:cNvPr>
          <p:cNvPicPr>
            <a:picLocks noChangeAspect="1"/>
          </p:cNvPicPr>
          <p:nvPr/>
        </p:nvPicPr>
        <p:blipFill>
          <a:blip r:embed="rId3"/>
          <a:stretch>
            <a:fillRect/>
          </a:stretch>
        </p:blipFill>
        <p:spPr>
          <a:xfrm>
            <a:off x="9114364" y="3585436"/>
            <a:ext cx="12120090" cy="2613253"/>
          </a:xfrm>
          <a:prstGeom prst="rect">
            <a:avLst/>
          </a:prstGeom>
        </p:spPr>
      </p:pic>
      <p:sp>
        <p:nvSpPr>
          <p:cNvPr id="15" name="TextBox 14">
            <a:extLst>
              <a:ext uri="{FF2B5EF4-FFF2-40B4-BE49-F238E27FC236}">
                <a16:creationId xmlns:a16="http://schemas.microsoft.com/office/drawing/2014/main" id="{FE22000D-C882-3314-5693-4BDBD3768965}"/>
              </a:ext>
            </a:extLst>
          </p:cNvPr>
          <p:cNvSpPr txBox="1"/>
          <p:nvPr/>
        </p:nvSpPr>
        <p:spPr>
          <a:xfrm>
            <a:off x="1830436" y="9333918"/>
            <a:ext cx="5978769" cy="1015663"/>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lang="en-US" sz="6000" b="1" dirty="0">
                <a:solidFill>
                  <a:schemeClr val="bg1"/>
                </a:solidFill>
                <a:latin typeface="+mj-lt"/>
              </a:rPr>
              <a:t>ABSTRACT</a:t>
            </a:r>
            <a:endParaRPr lang="en-US" dirty="0">
              <a:solidFill>
                <a:schemeClr val="bg1"/>
              </a:solidFill>
              <a:latin typeface="+mj-lt"/>
            </a:endParaRPr>
          </a:p>
        </p:txBody>
      </p:sp>
      <p:sp>
        <p:nvSpPr>
          <p:cNvPr id="18" name="TextBox 17">
            <a:extLst>
              <a:ext uri="{FF2B5EF4-FFF2-40B4-BE49-F238E27FC236}">
                <a16:creationId xmlns:a16="http://schemas.microsoft.com/office/drawing/2014/main" id="{3212886F-1572-D95A-E39C-152B3142C4A0}"/>
              </a:ext>
            </a:extLst>
          </p:cNvPr>
          <p:cNvSpPr txBox="1"/>
          <p:nvPr/>
        </p:nvSpPr>
        <p:spPr>
          <a:xfrm>
            <a:off x="4873517" y="15886874"/>
            <a:ext cx="6587744" cy="1015663"/>
          </a:xfrm>
          <a:prstGeom prst="rect">
            <a:avLst/>
          </a:prstGeom>
          <a:noFill/>
        </p:spPr>
        <p:txBody>
          <a:bodyPr wrap="square" rtlCol="0">
            <a:spAutoFit/>
          </a:bodyPr>
          <a:lstStyle/>
          <a:p>
            <a:pPr algn="ctr"/>
            <a:r>
              <a:rPr lang="en-US" sz="6000" b="1" dirty="0">
                <a:solidFill>
                  <a:schemeClr val="bg1"/>
                </a:solidFill>
                <a:latin typeface="+mj-lt"/>
              </a:rPr>
              <a:t>MOTIVATION</a:t>
            </a:r>
            <a:endParaRPr lang="en-US" b="1" dirty="0">
              <a:solidFill>
                <a:schemeClr val="bg1"/>
              </a:solidFill>
              <a:latin typeface="+mj-lt"/>
            </a:endParaRPr>
          </a:p>
        </p:txBody>
      </p:sp>
      <p:sp>
        <p:nvSpPr>
          <p:cNvPr id="19" name="TextBox 18">
            <a:extLst>
              <a:ext uri="{FF2B5EF4-FFF2-40B4-BE49-F238E27FC236}">
                <a16:creationId xmlns:a16="http://schemas.microsoft.com/office/drawing/2014/main" id="{FB3B1E5B-E13E-917E-5E09-1C593D288669}"/>
              </a:ext>
            </a:extLst>
          </p:cNvPr>
          <p:cNvSpPr txBox="1"/>
          <p:nvPr/>
        </p:nvSpPr>
        <p:spPr>
          <a:xfrm>
            <a:off x="19211475" y="15929213"/>
            <a:ext cx="6327365" cy="1015663"/>
          </a:xfrm>
          <a:prstGeom prst="rect">
            <a:avLst/>
          </a:prstGeom>
          <a:noFill/>
        </p:spPr>
        <p:txBody>
          <a:bodyPr wrap="square" rtlCol="0">
            <a:spAutoFit/>
          </a:bodyPr>
          <a:lstStyle/>
          <a:p>
            <a:pPr algn="ctr"/>
            <a:r>
              <a:rPr lang="en-US" sz="6000" b="1" dirty="0">
                <a:solidFill>
                  <a:schemeClr val="bg1"/>
                </a:solidFill>
                <a:latin typeface="+mj-lt"/>
              </a:rPr>
              <a:t>SOLUTION</a:t>
            </a:r>
            <a:endParaRPr lang="en-US" b="1" dirty="0">
              <a:solidFill>
                <a:schemeClr val="bg1"/>
              </a:solidFill>
              <a:latin typeface="+mj-lt"/>
            </a:endParaRPr>
          </a:p>
        </p:txBody>
      </p:sp>
      <p:sp>
        <p:nvSpPr>
          <p:cNvPr id="20" name="TextBox 19">
            <a:extLst>
              <a:ext uri="{FF2B5EF4-FFF2-40B4-BE49-F238E27FC236}">
                <a16:creationId xmlns:a16="http://schemas.microsoft.com/office/drawing/2014/main" id="{EF4D2AEC-49B5-2682-99FE-0E5BD73A901A}"/>
              </a:ext>
            </a:extLst>
          </p:cNvPr>
          <p:cNvSpPr txBox="1"/>
          <p:nvPr/>
        </p:nvSpPr>
        <p:spPr>
          <a:xfrm>
            <a:off x="3823944" y="29004910"/>
            <a:ext cx="5978769" cy="1015663"/>
          </a:xfrm>
          <a:prstGeom prst="rect">
            <a:avLst/>
          </a:prstGeom>
          <a:noFill/>
        </p:spPr>
        <p:txBody>
          <a:bodyPr wrap="square" rtlCol="0">
            <a:spAutoFit/>
          </a:bodyPr>
          <a:lstStyle/>
          <a:p>
            <a:pPr algn="ctr"/>
            <a:r>
              <a:rPr lang="en-US" sz="6000" dirty="0">
                <a:solidFill>
                  <a:schemeClr val="bg1"/>
                </a:solidFill>
              </a:rPr>
              <a:t>KEY FEATURES</a:t>
            </a:r>
            <a:endParaRPr lang="en-US" dirty="0">
              <a:solidFill>
                <a:schemeClr val="bg1"/>
              </a:solidFill>
            </a:endParaRPr>
          </a:p>
        </p:txBody>
      </p:sp>
      <p:sp>
        <p:nvSpPr>
          <p:cNvPr id="21" name="TextBox 20">
            <a:extLst>
              <a:ext uri="{FF2B5EF4-FFF2-40B4-BE49-F238E27FC236}">
                <a16:creationId xmlns:a16="http://schemas.microsoft.com/office/drawing/2014/main" id="{B615D756-1AE1-298C-4A7D-080AE480CB06}"/>
              </a:ext>
            </a:extLst>
          </p:cNvPr>
          <p:cNvSpPr txBox="1"/>
          <p:nvPr/>
        </p:nvSpPr>
        <p:spPr>
          <a:xfrm>
            <a:off x="2254728" y="26977548"/>
            <a:ext cx="13645662" cy="7879080"/>
          </a:xfrm>
          <a:prstGeom prst="rect">
            <a:avLst/>
          </a:prstGeom>
          <a:noFill/>
        </p:spPr>
        <p:txBody>
          <a:bodyPr wrap="square" rtlCol="0">
            <a:spAutoFit/>
          </a:bodyPr>
          <a:lstStyle/>
          <a:p>
            <a:r>
              <a:rPr lang="en-US" sz="6600" b="1" dirty="0"/>
              <a:t>KEY FEATURES</a:t>
            </a:r>
          </a:p>
          <a:p>
            <a:pPr marL="857250" indent="-857250">
              <a:lnSpc>
                <a:spcPct val="150000"/>
              </a:lnSpc>
              <a:buFont typeface="Wingdings" panose="05000000000000000000" pitchFamily="2" charset="2"/>
              <a:buChar char="v"/>
            </a:pPr>
            <a:r>
              <a:rPr lang="en-US" sz="4400" dirty="0"/>
              <a:t>Major Recommendation Test</a:t>
            </a:r>
          </a:p>
          <a:p>
            <a:pPr marL="857250" indent="-857250">
              <a:lnSpc>
                <a:spcPct val="150000"/>
              </a:lnSpc>
              <a:buFont typeface="Wingdings" panose="05000000000000000000" pitchFamily="2" charset="2"/>
              <a:buChar char="v"/>
            </a:pPr>
            <a:r>
              <a:rPr lang="en-US" sz="4400" dirty="0"/>
              <a:t>University Explorer </a:t>
            </a:r>
          </a:p>
          <a:p>
            <a:pPr marL="857250" indent="-857250">
              <a:lnSpc>
                <a:spcPct val="150000"/>
              </a:lnSpc>
              <a:buFont typeface="Wingdings" panose="05000000000000000000" pitchFamily="2" charset="2"/>
              <a:buChar char="v"/>
            </a:pPr>
            <a:r>
              <a:rPr lang="en-US" sz="4400" dirty="0"/>
              <a:t>Collaborative Discussion Forums</a:t>
            </a:r>
          </a:p>
          <a:p>
            <a:pPr marL="857250" indent="-857250">
              <a:lnSpc>
                <a:spcPct val="150000"/>
              </a:lnSpc>
              <a:buFont typeface="Wingdings" panose="05000000000000000000" pitchFamily="2" charset="2"/>
              <a:buChar char="v"/>
            </a:pPr>
            <a:r>
              <a:rPr lang="en-US" sz="4400"/>
              <a:t>Rasheed (Academic </a:t>
            </a:r>
            <a:r>
              <a:rPr lang="en-US" sz="4400" dirty="0"/>
              <a:t>Advisor)</a:t>
            </a:r>
          </a:p>
          <a:p>
            <a:pPr marL="857250" indent="-857250">
              <a:lnSpc>
                <a:spcPct val="150000"/>
              </a:lnSpc>
              <a:buFont typeface="Wingdings" panose="05000000000000000000" pitchFamily="2" charset="2"/>
              <a:buChar char="v"/>
            </a:pPr>
            <a:r>
              <a:rPr lang="en-US" sz="4400" dirty="0"/>
              <a:t>Personalized Profile </a:t>
            </a:r>
          </a:p>
          <a:p>
            <a:pPr marL="857250" indent="-857250">
              <a:buFont typeface="Courier New" panose="02070309020205020404" pitchFamily="49" charset="0"/>
              <a:buChar char="o"/>
            </a:pPr>
            <a:endParaRPr lang="en-US" sz="4400" dirty="0"/>
          </a:p>
          <a:p>
            <a:pPr marL="857250" indent="-857250">
              <a:buFont typeface="Courier New" panose="02070309020205020404" pitchFamily="49" charset="0"/>
              <a:buChar char="o"/>
            </a:pPr>
            <a:endParaRPr lang="en-US" sz="6600" dirty="0"/>
          </a:p>
        </p:txBody>
      </p:sp>
      <p:sp>
        <p:nvSpPr>
          <p:cNvPr id="2" name="TextBox 1">
            <a:extLst>
              <a:ext uri="{FF2B5EF4-FFF2-40B4-BE49-F238E27FC236}">
                <a16:creationId xmlns:a16="http://schemas.microsoft.com/office/drawing/2014/main" id="{E5797222-C83F-EBD1-A39F-B83BA9CE537C}"/>
              </a:ext>
            </a:extLst>
          </p:cNvPr>
          <p:cNvSpPr txBox="1"/>
          <p:nvPr/>
        </p:nvSpPr>
        <p:spPr>
          <a:xfrm>
            <a:off x="2907503" y="10349581"/>
            <a:ext cx="24460200" cy="3477875"/>
          </a:xfrm>
          <a:prstGeom prst="rect">
            <a:avLst/>
          </a:prstGeom>
          <a:noFill/>
        </p:spPr>
        <p:txBody>
          <a:bodyPr wrap="square" rtlCol="0">
            <a:spAutoFit/>
          </a:bodyPr>
          <a:lstStyle/>
          <a:p>
            <a:pPr algn="just"/>
            <a:r>
              <a:rPr lang="en-US" sz="4400" dirty="0">
                <a:solidFill>
                  <a:schemeClr val="bg1"/>
                </a:solidFill>
              </a:rPr>
              <a:t>Many students struggle to choose the right major because of limited guidance and unclear interests. Our mobile app helps solve this by asking personalized questions to understand each student’s strengths and preferences. It then recommends suitable majors and provides a 24/7 AI chatbot for academic support. By centralizing important university information and offering smart, tailored guidance, the app helps students make confident and informed decisions about their future.</a:t>
            </a:r>
          </a:p>
        </p:txBody>
      </p:sp>
      <p:sp>
        <p:nvSpPr>
          <p:cNvPr id="3" name="TextBox 2">
            <a:extLst>
              <a:ext uri="{FF2B5EF4-FFF2-40B4-BE49-F238E27FC236}">
                <a16:creationId xmlns:a16="http://schemas.microsoft.com/office/drawing/2014/main" id="{240CFDD3-1785-ECC3-8B65-2D7AED424E92}"/>
              </a:ext>
            </a:extLst>
          </p:cNvPr>
          <p:cNvSpPr txBox="1"/>
          <p:nvPr/>
        </p:nvSpPr>
        <p:spPr>
          <a:xfrm>
            <a:off x="2351156" y="17242971"/>
            <a:ext cx="11475789" cy="8217634"/>
          </a:xfrm>
          <a:prstGeom prst="rect">
            <a:avLst/>
          </a:prstGeom>
          <a:noFill/>
        </p:spPr>
        <p:txBody>
          <a:bodyPr wrap="square" rtlCol="0">
            <a:spAutoFit/>
          </a:bodyPr>
          <a:lstStyle/>
          <a:p>
            <a:pPr algn="just"/>
            <a:r>
              <a:rPr lang="en-US" sz="4400" dirty="0">
                <a:solidFill>
                  <a:schemeClr val="bg1"/>
                </a:solidFill>
              </a:rPr>
              <a:t>Many students struggle with the pressure of choosing the “right” major and often feel uncertain, unsupported, or afraid of making the wrong decision. With limited guidance available, this process can feel overwhelming and risky. Our motivation is to create a tool that truly understands students, helping them explore their strengths and interests with confidence. We believe that choosing a major shouldn’t feel like a gamble our goal is to make the journey clearer, smoother, and genuinely personalized.</a:t>
            </a:r>
          </a:p>
        </p:txBody>
      </p:sp>
      <p:pic>
        <p:nvPicPr>
          <p:cNvPr id="5" name="Picture 4">
            <a:extLst>
              <a:ext uri="{FF2B5EF4-FFF2-40B4-BE49-F238E27FC236}">
                <a16:creationId xmlns:a16="http://schemas.microsoft.com/office/drawing/2014/main" id="{DB135FE9-4BF4-C27F-8331-AEF279BAD033}"/>
              </a:ext>
            </a:extLst>
          </p:cNvPr>
          <p:cNvPicPr>
            <a:picLocks noChangeAspect="1"/>
          </p:cNvPicPr>
          <p:nvPr/>
        </p:nvPicPr>
        <p:blipFill>
          <a:blip r:embed="rId4">
            <a:lum bright="70000" contrast="-70000"/>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19211477" y="17072642"/>
            <a:ext cx="6327365" cy="1289102"/>
          </a:xfrm>
          <a:prstGeom prst="rect">
            <a:avLst/>
          </a:prstGeom>
        </p:spPr>
      </p:pic>
      <p:sp>
        <p:nvSpPr>
          <p:cNvPr id="6" name="TextBox 5">
            <a:extLst>
              <a:ext uri="{FF2B5EF4-FFF2-40B4-BE49-F238E27FC236}">
                <a16:creationId xmlns:a16="http://schemas.microsoft.com/office/drawing/2014/main" id="{F2E5CF66-226D-2A52-21B9-19C9D6FA177C}"/>
              </a:ext>
            </a:extLst>
          </p:cNvPr>
          <p:cNvSpPr txBox="1"/>
          <p:nvPr/>
        </p:nvSpPr>
        <p:spPr>
          <a:xfrm>
            <a:off x="16793518" y="18684841"/>
            <a:ext cx="11163280" cy="6186309"/>
          </a:xfrm>
          <a:prstGeom prst="rect">
            <a:avLst/>
          </a:prstGeom>
          <a:noFill/>
        </p:spPr>
        <p:txBody>
          <a:bodyPr wrap="square" rtlCol="0">
            <a:spAutoFit/>
          </a:bodyPr>
          <a:lstStyle/>
          <a:p>
            <a:pPr algn="just"/>
            <a:r>
              <a:rPr lang="en-US" sz="4400" dirty="0">
                <a:solidFill>
                  <a:schemeClr val="bg1"/>
                </a:solidFill>
              </a:rPr>
              <a:t>Acadeguide is an intelligent guidance platform designed to help high-school students confidently choose their ideal major and discover universities that match their goals, strengths, and interests. Built with recommendation algorithms and an intuitive user experience, Acadeguide transforms the overwhelming process of career and major selection into a clear, personalized journey.</a:t>
            </a:r>
          </a:p>
        </p:txBody>
      </p:sp>
      <p:sp>
        <p:nvSpPr>
          <p:cNvPr id="7" name="TextBox 6">
            <a:extLst>
              <a:ext uri="{FF2B5EF4-FFF2-40B4-BE49-F238E27FC236}">
                <a16:creationId xmlns:a16="http://schemas.microsoft.com/office/drawing/2014/main" id="{987D66C2-A5B0-812E-77B0-B01E2A4C2147}"/>
              </a:ext>
            </a:extLst>
          </p:cNvPr>
          <p:cNvSpPr txBox="1"/>
          <p:nvPr/>
        </p:nvSpPr>
        <p:spPr>
          <a:xfrm>
            <a:off x="20396468" y="26977548"/>
            <a:ext cx="7624017" cy="1600438"/>
          </a:xfrm>
          <a:prstGeom prst="rect">
            <a:avLst/>
          </a:prstGeom>
          <a:noFill/>
        </p:spPr>
        <p:txBody>
          <a:bodyPr wrap="square" rtlCol="0">
            <a:spAutoFit/>
          </a:bodyPr>
          <a:lstStyle/>
          <a:p>
            <a:pPr algn="ctr"/>
            <a:r>
              <a:rPr lang="en-US" sz="5400" b="1" dirty="0"/>
              <a:t>Meet Rasheed !</a:t>
            </a:r>
          </a:p>
          <a:p>
            <a:pPr algn="ctr"/>
            <a:r>
              <a:rPr lang="en-US" sz="4400" dirty="0"/>
              <a:t>Your Academic Advisor </a:t>
            </a:r>
          </a:p>
        </p:txBody>
      </p:sp>
      <p:pic>
        <p:nvPicPr>
          <p:cNvPr id="8" name="Picture 7">
            <a:extLst>
              <a:ext uri="{FF2B5EF4-FFF2-40B4-BE49-F238E27FC236}">
                <a16:creationId xmlns:a16="http://schemas.microsoft.com/office/drawing/2014/main" id="{0B97D55F-1FF2-37E0-0955-5514C1FC4198}"/>
              </a:ext>
            </a:extLst>
          </p:cNvPr>
          <p:cNvPicPr>
            <a:picLocks noChangeAspect="1"/>
          </p:cNvPicPr>
          <p:nvPr/>
        </p:nvPicPr>
        <p:blipFill>
          <a:blip r:embed="rId6"/>
          <a:srcRect l="46656"/>
          <a:stretch>
            <a:fillRect/>
          </a:stretch>
        </p:blipFill>
        <p:spPr>
          <a:xfrm>
            <a:off x="21815992" y="28997713"/>
            <a:ext cx="4784968" cy="4688860"/>
          </a:xfrm>
          <a:prstGeom prst="rect">
            <a:avLst/>
          </a:prstGeom>
        </p:spPr>
      </p:pic>
      <p:pic>
        <p:nvPicPr>
          <p:cNvPr id="17" name="Picture 16">
            <a:extLst>
              <a:ext uri="{FF2B5EF4-FFF2-40B4-BE49-F238E27FC236}">
                <a16:creationId xmlns:a16="http://schemas.microsoft.com/office/drawing/2014/main" id="{832B8219-F980-F7E9-9709-02A4278F1AF4}"/>
              </a:ext>
            </a:extLst>
          </p:cNvPr>
          <p:cNvPicPr>
            <a:picLocks noChangeAspect="1"/>
          </p:cNvPicPr>
          <p:nvPr/>
        </p:nvPicPr>
        <p:blipFill>
          <a:blip r:embed="rId7"/>
          <a:stretch>
            <a:fillRect/>
          </a:stretch>
        </p:blipFill>
        <p:spPr>
          <a:xfrm>
            <a:off x="5477487" y="34231146"/>
            <a:ext cx="3636877" cy="7870576"/>
          </a:xfrm>
          <a:prstGeom prst="rect">
            <a:avLst/>
          </a:prstGeom>
        </p:spPr>
      </p:pic>
      <p:pic>
        <p:nvPicPr>
          <p:cNvPr id="23" name="Picture 22">
            <a:extLst>
              <a:ext uri="{FF2B5EF4-FFF2-40B4-BE49-F238E27FC236}">
                <a16:creationId xmlns:a16="http://schemas.microsoft.com/office/drawing/2014/main" id="{4426393A-223A-0D25-1DF5-448768522EB0}"/>
              </a:ext>
            </a:extLst>
          </p:cNvPr>
          <p:cNvPicPr>
            <a:picLocks noChangeAspect="1"/>
          </p:cNvPicPr>
          <p:nvPr/>
        </p:nvPicPr>
        <p:blipFill>
          <a:blip r:embed="rId8"/>
          <a:stretch>
            <a:fillRect/>
          </a:stretch>
        </p:blipFill>
        <p:spPr>
          <a:xfrm>
            <a:off x="10834643" y="34186957"/>
            <a:ext cx="3636877" cy="7870576"/>
          </a:xfrm>
          <a:prstGeom prst="rect">
            <a:avLst/>
          </a:prstGeom>
        </p:spPr>
      </p:pic>
      <p:pic>
        <p:nvPicPr>
          <p:cNvPr id="25" name="Picture 24" descr="A screenshot of a phone&#10;&#10;AI-generated content may be incorrect.">
            <a:extLst>
              <a:ext uri="{FF2B5EF4-FFF2-40B4-BE49-F238E27FC236}">
                <a16:creationId xmlns:a16="http://schemas.microsoft.com/office/drawing/2014/main" id="{D3725FB1-E659-5888-145F-5CB8B7218CCE}"/>
              </a:ext>
            </a:extLst>
          </p:cNvPr>
          <p:cNvPicPr>
            <a:picLocks noChangeAspect="1"/>
          </p:cNvPicPr>
          <p:nvPr/>
        </p:nvPicPr>
        <p:blipFill>
          <a:blip r:embed="rId9"/>
          <a:stretch>
            <a:fillRect/>
          </a:stretch>
        </p:blipFill>
        <p:spPr>
          <a:xfrm>
            <a:off x="16679526" y="34186957"/>
            <a:ext cx="3622275" cy="7838977"/>
          </a:xfrm>
          <a:prstGeom prst="rect">
            <a:avLst/>
          </a:prstGeom>
        </p:spPr>
      </p:pic>
      <p:pic>
        <p:nvPicPr>
          <p:cNvPr id="27" name="Picture 26">
            <a:extLst>
              <a:ext uri="{FF2B5EF4-FFF2-40B4-BE49-F238E27FC236}">
                <a16:creationId xmlns:a16="http://schemas.microsoft.com/office/drawing/2014/main" id="{453DF7B6-22BE-CCD9-AB14-97A9D202E436}"/>
              </a:ext>
            </a:extLst>
          </p:cNvPr>
          <p:cNvPicPr>
            <a:picLocks noChangeAspect="1"/>
          </p:cNvPicPr>
          <p:nvPr/>
        </p:nvPicPr>
        <p:blipFill>
          <a:blip r:embed="rId10"/>
          <a:stretch>
            <a:fillRect/>
          </a:stretch>
        </p:blipFill>
        <p:spPr>
          <a:xfrm>
            <a:off x="21969891" y="34142768"/>
            <a:ext cx="3677715" cy="7958954"/>
          </a:xfrm>
          <a:prstGeom prst="rect">
            <a:avLst/>
          </a:prstGeom>
        </p:spPr>
      </p:pic>
      <p:sp>
        <p:nvSpPr>
          <p:cNvPr id="16" name="TextBox 15">
            <a:extLst>
              <a:ext uri="{FF2B5EF4-FFF2-40B4-BE49-F238E27FC236}">
                <a16:creationId xmlns:a16="http://schemas.microsoft.com/office/drawing/2014/main" id="{56F9E0CA-D87E-DA87-8C0A-88FE9A4D7B54}"/>
              </a:ext>
            </a:extLst>
          </p:cNvPr>
          <p:cNvSpPr txBox="1"/>
          <p:nvPr/>
        </p:nvSpPr>
        <p:spPr>
          <a:xfrm>
            <a:off x="6678112" y="361607"/>
            <a:ext cx="16260107" cy="1384995"/>
          </a:xfrm>
          <a:prstGeom prst="rect">
            <a:avLst/>
          </a:prstGeom>
          <a:noFill/>
        </p:spPr>
        <p:txBody>
          <a:bodyPr wrap="square">
            <a:spAutoFit/>
          </a:bodyPr>
          <a:lstStyle/>
          <a:p>
            <a:pPr lvl="0" algn="ctr">
              <a:defRPr spc="0">
                <a:solidFill>
                  <a:srgbClr val="000000"/>
                </a:solidFill>
              </a:defRPr>
            </a:pPr>
            <a:r>
              <a:rPr lang="en-US" sz="2800" spc="18" dirty="0">
                <a:solidFill>
                  <a:srgbClr val="404B57"/>
                </a:solidFill>
              </a:rPr>
              <a:t>Computer Science and Engineering Department </a:t>
            </a:r>
          </a:p>
          <a:p>
            <a:pPr lvl="0" algn="ctr">
              <a:defRPr spc="0">
                <a:solidFill>
                  <a:srgbClr val="000000"/>
                </a:solidFill>
              </a:defRPr>
            </a:pPr>
            <a:r>
              <a:rPr lang="en-US" sz="2800" dirty="0">
                <a:solidFill>
                  <a:srgbClr val="404B57"/>
                </a:solidFill>
              </a:rPr>
              <a:t>Qatar University</a:t>
            </a:r>
          </a:p>
          <a:p>
            <a:pPr lvl="0" algn="ctr">
              <a:defRPr spc="0">
                <a:solidFill>
                  <a:srgbClr val="000000"/>
                </a:solidFill>
              </a:defRPr>
            </a:pPr>
            <a:r>
              <a:rPr lang="en-US" sz="2800" spc="18" dirty="0">
                <a:solidFill>
                  <a:srgbClr val="404B57"/>
                </a:solidFill>
              </a:rPr>
              <a:t>2025 – 2026</a:t>
            </a:r>
          </a:p>
        </p:txBody>
      </p:sp>
      <p:sp>
        <p:nvSpPr>
          <p:cNvPr id="22" name="TextBox 21">
            <a:extLst>
              <a:ext uri="{FF2B5EF4-FFF2-40B4-BE49-F238E27FC236}">
                <a16:creationId xmlns:a16="http://schemas.microsoft.com/office/drawing/2014/main" id="{A798AFA8-37E1-8624-0D9C-4C446D3B15EC}"/>
              </a:ext>
            </a:extLst>
          </p:cNvPr>
          <p:cNvSpPr txBox="1"/>
          <p:nvPr/>
        </p:nvSpPr>
        <p:spPr>
          <a:xfrm>
            <a:off x="862803" y="405470"/>
            <a:ext cx="4089400" cy="584775"/>
          </a:xfrm>
          <a:prstGeom prst="rect">
            <a:avLst/>
          </a:prstGeom>
          <a:noFill/>
        </p:spPr>
        <p:txBody>
          <a:bodyPr wrap="square" rtlCol="0">
            <a:spAutoFit/>
          </a:bodyPr>
          <a:lstStyle/>
          <a:p>
            <a:r>
              <a:rPr lang="en-US" sz="3200" dirty="0">
                <a:highlight>
                  <a:srgbClr val="FFFF00"/>
                </a:highlight>
              </a:rPr>
              <a:t>G20</a:t>
            </a:r>
          </a:p>
        </p:txBody>
      </p:sp>
    </p:spTree>
    <p:extLst>
      <p:ext uri="{BB962C8B-B14F-4D97-AF65-F5344CB8AC3E}">
        <p14:creationId xmlns:p14="http://schemas.microsoft.com/office/powerpoint/2010/main" val="308166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225</TotalTime>
  <Words>293</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Courier New</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Khaled Ahmed Mohamed Qutb</dc:creator>
  <cp:lastModifiedBy>Omar Khaled Ahmed Mohamed Qutb</cp:lastModifiedBy>
  <cp:revision>19</cp:revision>
  <dcterms:created xsi:type="dcterms:W3CDTF">2025-11-17T13:39:44Z</dcterms:created>
  <dcterms:modified xsi:type="dcterms:W3CDTF">2025-11-22T11:59:37Z</dcterms:modified>
</cp:coreProperties>
</file>